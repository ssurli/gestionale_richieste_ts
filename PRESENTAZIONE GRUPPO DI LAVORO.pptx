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398" r:id="rId2"/>
    <p:sldId id="1513" r:id="rId3"/>
    <p:sldId id="1509" r:id="rId4"/>
    <p:sldId id="288" r:id="rId5"/>
    <p:sldId id="1515" r:id="rId6"/>
    <p:sldId id="1519" r:id="rId7"/>
    <p:sldId id="1531" r:id="rId8"/>
    <p:sldId id="1532" r:id="rId9"/>
    <p:sldId id="1530" r:id="rId10"/>
    <p:sldId id="1533" r:id="rId11"/>
    <p:sldId id="1534" r:id="rId12"/>
    <p:sldId id="1535" r:id="rId13"/>
    <p:sldId id="1527" r:id="rId14"/>
    <p:sldId id="1517" r:id="rId15"/>
    <p:sldId id="1528" r:id="rId16"/>
    <p:sldId id="1529" r:id="rId17"/>
    <p:sldId id="1514" r:id="rId18"/>
    <p:sldId id="1520" r:id="rId19"/>
    <p:sldId id="1521" r:id="rId20"/>
    <p:sldId id="1522" r:id="rId21"/>
    <p:sldId id="1524" r:id="rId22"/>
    <p:sldId id="1525" r:id="rId23"/>
    <p:sldId id="1526" r:id="rId24"/>
    <p:sldId id="1536" r:id="rId25"/>
  </p:sldIdLst>
  <p:sldSz cx="12169775" cy="6840538"/>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p15:clr>
            <a:srgbClr val="A4A3A4"/>
          </p15:clr>
        </p15:guide>
        <p15:guide id="2" pos="383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4994" autoAdjust="0"/>
  </p:normalViewPr>
  <p:slideViewPr>
    <p:cSldViewPr>
      <p:cViewPr varScale="1">
        <p:scale>
          <a:sx n="69" d="100"/>
          <a:sy n="69" d="100"/>
        </p:scale>
        <p:origin x="1133" y="72"/>
      </p:cViewPr>
      <p:guideLst>
        <p:guide orient="horz" pos="2155"/>
        <p:guide pos="3834"/>
      </p:guideLst>
    </p:cSldViewPr>
  </p:slid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996718-E93B-4129-9BCE-B5F1F120E5C2}" type="datetimeFigureOut">
              <a:rPr lang="it-IT" smtClean="0"/>
              <a:pPr/>
              <a:t>26/12/2025</a:t>
            </a:fld>
            <a:endParaRPr lang="it-IT"/>
          </a:p>
        </p:txBody>
      </p:sp>
      <p:sp>
        <p:nvSpPr>
          <p:cNvPr id="4" name="Segnaposto immagine diapositiva 3"/>
          <p:cNvSpPr>
            <a:spLocks noGrp="1" noRot="1" noChangeAspect="1"/>
          </p:cNvSpPr>
          <p:nvPr>
            <p:ph type="sldImg" idx="2"/>
          </p:nvPr>
        </p:nvSpPr>
        <p:spPr>
          <a:xfrm>
            <a:off x="379413" y="685800"/>
            <a:ext cx="6099175"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929AB8-05FB-4E4A-8CAD-74ADEF1CFF5B}"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it-IT" dirty="0"/>
              <a:t>I dispositivi aggiudicati/già disponibili nel SSR escono dalla sfera di governo regionale (Centro Operativo HTA, Commissione per la valutazione delle tecnologie sanitarie) e possono essere acquisiti dalle Aziende entro i limiti previsti dalle </a:t>
            </a:r>
            <a:r>
              <a:rPr lang="it-IT" dirty="0" err="1"/>
              <a:t>determine</a:t>
            </a:r>
            <a:r>
              <a:rPr lang="it-IT" dirty="0"/>
              <a:t> ESTAR e dai capitolati di aggiudicazione. La funzione «filtro» di ESTAR in passato non è stata particolarmente efficiente e in taluni casi abbiamo assistito al bypass degli step valutativi obbligatori (valutazioni del Centro Operativo HTA) sia da parte delle Aziende Sanitarie sia in sede di Collegio tecnico prima di bandire la gara a cura di ESTAR stesso. Risultato: l’offerta è ricca, la vetrina è allettante ma dobbiamo chiederci se l’innovazione è supportata da evidenze e se rappresenta davvero un valore per il paziente.</a:t>
            </a:r>
          </a:p>
        </p:txBody>
      </p:sp>
      <p:sp>
        <p:nvSpPr>
          <p:cNvPr id="4" name="Segnaposto numero diapositiva 3"/>
          <p:cNvSpPr>
            <a:spLocks noGrp="1"/>
          </p:cNvSpPr>
          <p:nvPr>
            <p:ph type="sldNum" sz="quarter" idx="10"/>
          </p:nvPr>
        </p:nvSpPr>
        <p:spPr/>
        <p:txBody>
          <a:bodyPr/>
          <a:lstStyle/>
          <a:p>
            <a:fld id="{8CC7B6BA-1047-954C-8D7E-AB1D7E2FA68D}" type="slidenum">
              <a:rPr lang="it-IT" smtClean="0"/>
              <a:pPr/>
              <a:t>4</a:t>
            </a:fld>
            <a:endParaRPr lang="it-IT"/>
          </a:p>
        </p:txBody>
      </p:sp>
    </p:spTree>
    <p:extLst>
      <p:ext uri="{BB962C8B-B14F-4D97-AF65-F5344CB8AC3E}">
        <p14:creationId xmlns:p14="http://schemas.microsoft.com/office/powerpoint/2010/main" val="391628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912735" y="2125002"/>
            <a:ext cx="10344308" cy="1466282"/>
          </a:xfrm>
        </p:spPr>
        <p:txBody>
          <a:bodyPr/>
          <a:lstStyle/>
          <a:p>
            <a:r>
              <a:rPr lang="it-IT"/>
              <a:t>Fare clic per modificare lo stile del titolo</a:t>
            </a:r>
          </a:p>
        </p:txBody>
      </p:sp>
      <p:sp>
        <p:nvSpPr>
          <p:cNvPr id="3" name="Sottotitolo 2"/>
          <p:cNvSpPr>
            <a:spLocks noGrp="1"/>
          </p:cNvSpPr>
          <p:nvPr>
            <p:ph type="subTitle" idx="1"/>
          </p:nvPr>
        </p:nvSpPr>
        <p:spPr>
          <a:xfrm>
            <a:off x="1825467" y="3876305"/>
            <a:ext cx="8518843" cy="1748137"/>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961329" y="4395680"/>
            <a:ext cx="10344308" cy="1358607"/>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961329" y="2899312"/>
            <a:ext cx="10344308" cy="149636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608490" y="1596127"/>
            <a:ext cx="5374984" cy="451443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86302" y="1596127"/>
            <a:ext cx="5374984" cy="451443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608489" y="1531204"/>
            <a:ext cx="5377098" cy="63813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608489" y="2169337"/>
            <a:ext cx="5377098" cy="39412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82079" y="1531204"/>
            <a:ext cx="5379209" cy="63813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82079" y="2169337"/>
            <a:ext cx="5379209" cy="39412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8489" y="272355"/>
            <a:ext cx="4003772" cy="1159091"/>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4758045" y="272356"/>
            <a:ext cx="6803242" cy="583821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608489" y="1431447"/>
            <a:ext cx="4003772" cy="46791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5362" y="4788377"/>
            <a:ext cx="7301865" cy="565295"/>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2385362" y="611215"/>
            <a:ext cx="7301865" cy="410432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2385362" y="5353671"/>
            <a:ext cx="7301865" cy="8028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23087" y="273940"/>
            <a:ext cx="2738199" cy="5836626"/>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608490" y="273940"/>
            <a:ext cx="8011768" cy="5836626"/>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B0AAC118-B041-4DF4-BB70-9BE415F97D38}" type="datetimeFigureOut">
              <a:rPr lang="it-IT" smtClean="0"/>
              <a:pPr/>
              <a:t>26/12/2025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CB37C9AA-D8EB-4971-BD1F-3D5CC04211E8}" type="slidenum">
              <a:rPr lang="it-IT" smtClean="0"/>
              <a:pPr/>
              <a:t>‹N›</a:t>
            </a:fld>
            <a:endParaRPr lang="it-IT"/>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Image slide layout">
    <p:spTree>
      <p:nvGrpSpPr>
        <p:cNvPr id="1" name=""/>
        <p:cNvGrpSpPr/>
        <p:nvPr/>
      </p:nvGrpSpPr>
      <p:grpSpPr>
        <a:xfrm>
          <a:off x="0" y="0"/>
          <a:ext cx="0" cy="0"/>
          <a:chOff x="0" y="0"/>
          <a:chExt cx="0" cy="0"/>
        </a:xfrm>
      </p:grpSpPr>
      <p:sp>
        <p:nvSpPr>
          <p:cNvPr id="9" name="그림 개체 틀 13">
            <a:extLst/>
          </p:cNvPr>
          <p:cNvSpPr>
            <a:spLocks noGrp="1"/>
          </p:cNvSpPr>
          <p:nvPr>
            <p:ph type="pic" sz="quarter" idx="10"/>
          </p:nvPr>
        </p:nvSpPr>
        <p:spPr>
          <a:xfrm>
            <a:off x="0" y="14032"/>
            <a:ext cx="3415728" cy="6826506"/>
          </a:xfrm>
          <a:custGeom>
            <a:avLst/>
            <a:gdLst>
              <a:gd name="connsiteX0" fmla="*/ 0 w 3421966"/>
              <a:gd name="connsiteY0" fmla="*/ 0 h 6843932"/>
              <a:gd name="connsiteX1" fmla="*/ 3421966 w 3421966"/>
              <a:gd name="connsiteY1" fmla="*/ 3421966 h 6843932"/>
              <a:gd name="connsiteX2" fmla="*/ 0 w 3421966"/>
              <a:gd name="connsiteY2" fmla="*/ 6843932 h 6843932"/>
            </a:gdLst>
            <a:ahLst/>
            <a:cxnLst>
              <a:cxn ang="0">
                <a:pos x="connsiteX0" y="connsiteY0"/>
              </a:cxn>
              <a:cxn ang="0">
                <a:pos x="connsiteX1" y="connsiteY1"/>
              </a:cxn>
              <a:cxn ang="0">
                <a:pos x="connsiteX2" y="connsiteY2"/>
              </a:cxn>
            </a:cxnLst>
            <a:rect l="l" t="t" r="r" b="b"/>
            <a:pathLst>
              <a:path w="3421966" h="6843932">
                <a:moveTo>
                  <a:pt x="0" y="0"/>
                </a:moveTo>
                <a:lnTo>
                  <a:pt x="3421966" y="3421966"/>
                </a:lnTo>
                <a:lnTo>
                  <a:pt x="0" y="6843932"/>
                </a:lnTo>
                <a:close/>
              </a:path>
            </a:pathLst>
          </a:custGeom>
          <a:solidFill>
            <a:schemeClr val="bg1">
              <a:lumMod val="95000"/>
            </a:schemeClr>
          </a:solidFill>
          <a:effectLst/>
        </p:spPr>
        <p:txBody>
          <a:bodyPr wrap="square" anchor="ctr">
            <a:noAutofit/>
          </a:bodyPr>
          <a:lstStyle>
            <a:lvl1pPr marL="0" marR="0" indent="0" algn="ctr" defTabSz="912114" rtl="0" eaLnBrk="1" fontAlgn="auto" latinLnBrk="1" hangingPunct="1">
              <a:lnSpc>
                <a:spcPct val="90000"/>
              </a:lnSpc>
              <a:spcBef>
                <a:spcPts val="998"/>
              </a:spcBef>
              <a:spcAft>
                <a:spcPts val="0"/>
              </a:spcAft>
              <a:buClrTx/>
              <a:buSzTx/>
              <a:buFontTx/>
              <a:buNone/>
              <a:tabLst/>
              <a:defRPr sz="1197"/>
            </a:lvl1pPr>
          </a:lstStyle>
          <a:p>
            <a:pPr lvl="0"/>
            <a:r>
              <a:rPr lang="it-IT" altLang="ko-KR" noProof="0" dirty="0"/>
              <a:t>Fare clic sull'icona per inserire un'immagine</a:t>
            </a:r>
            <a:endParaRPr lang="ko-KR" altLang="en-US" noProof="0" dirty="0"/>
          </a:p>
        </p:txBody>
      </p:sp>
      <p:sp>
        <p:nvSpPr>
          <p:cNvPr id="10" name="그림 개체 틀 14">
            <a:extLst/>
          </p:cNvPr>
          <p:cNvSpPr>
            <a:spLocks noGrp="1"/>
          </p:cNvSpPr>
          <p:nvPr>
            <p:ph type="pic" sz="quarter" idx="11"/>
          </p:nvPr>
        </p:nvSpPr>
        <p:spPr>
          <a:xfrm>
            <a:off x="2156623" y="461775"/>
            <a:ext cx="2819990" cy="2817947"/>
          </a:xfrm>
          <a:custGeom>
            <a:avLst/>
            <a:gdLst>
              <a:gd name="connsiteX0" fmla="*/ 1412570 w 2825140"/>
              <a:gd name="connsiteY0" fmla="*/ 0 h 2825140"/>
              <a:gd name="connsiteX1" fmla="*/ 2825140 w 2825140"/>
              <a:gd name="connsiteY1" fmla="*/ 1412570 h 2825140"/>
              <a:gd name="connsiteX2" fmla="*/ 1412570 w 2825140"/>
              <a:gd name="connsiteY2" fmla="*/ 2825140 h 2825140"/>
              <a:gd name="connsiteX3" fmla="*/ 0 w 2825140"/>
              <a:gd name="connsiteY3" fmla="*/ 1412570 h 2825140"/>
            </a:gdLst>
            <a:ahLst/>
            <a:cxnLst>
              <a:cxn ang="0">
                <a:pos x="connsiteX0" y="connsiteY0"/>
              </a:cxn>
              <a:cxn ang="0">
                <a:pos x="connsiteX1" y="connsiteY1"/>
              </a:cxn>
              <a:cxn ang="0">
                <a:pos x="connsiteX2" y="connsiteY2"/>
              </a:cxn>
              <a:cxn ang="0">
                <a:pos x="connsiteX3" y="connsiteY3"/>
              </a:cxn>
            </a:cxnLst>
            <a:rect l="l" t="t" r="r" b="b"/>
            <a:pathLst>
              <a:path w="2825140" h="2825140">
                <a:moveTo>
                  <a:pt x="1412570" y="0"/>
                </a:moveTo>
                <a:lnTo>
                  <a:pt x="2825140" y="1412570"/>
                </a:lnTo>
                <a:lnTo>
                  <a:pt x="1412570" y="2825140"/>
                </a:lnTo>
                <a:lnTo>
                  <a:pt x="0" y="1412570"/>
                </a:lnTo>
                <a:close/>
              </a:path>
            </a:pathLst>
          </a:custGeom>
          <a:solidFill>
            <a:schemeClr val="bg1">
              <a:lumMod val="95000"/>
            </a:schemeClr>
          </a:solidFill>
          <a:effectLst/>
        </p:spPr>
        <p:txBody>
          <a:bodyPr wrap="square" anchor="ctr">
            <a:noAutofit/>
          </a:bodyPr>
          <a:lstStyle>
            <a:lvl1pPr marL="0" marR="0" indent="0" algn="ctr" defTabSz="912114" rtl="0" eaLnBrk="1" fontAlgn="auto" latinLnBrk="1" hangingPunct="1">
              <a:lnSpc>
                <a:spcPct val="90000"/>
              </a:lnSpc>
              <a:spcBef>
                <a:spcPts val="998"/>
              </a:spcBef>
              <a:spcAft>
                <a:spcPts val="0"/>
              </a:spcAft>
              <a:buClrTx/>
              <a:buSzTx/>
              <a:buFontTx/>
              <a:buNone/>
              <a:tabLst/>
              <a:defRPr sz="1197"/>
            </a:lvl1pPr>
          </a:lstStyle>
          <a:p>
            <a:pPr lvl="0"/>
            <a:r>
              <a:rPr lang="it-IT" altLang="ko-KR" noProof="0" dirty="0"/>
              <a:t>Fare clic sull'icona per inserire un'immagine</a:t>
            </a:r>
            <a:endParaRPr lang="ko-KR" altLang="en-US" noProof="0" dirty="0"/>
          </a:p>
        </p:txBody>
      </p:sp>
      <p:sp>
        <p:nvSpPr>
          <p:cNvPr id="11" name="그림 개체 틀 15">
            <a:extLst/>
          </p:cNvPr>
          <p:cNvSpPr>
            <a:spLocks noGrp="1"/>
          </p:cNvSpPr>
          <p:nvPr>
            <p:ph type="pic" sz="quarter" idx="12"/>
          </p:nvPr>
        </p:nvSpPr>
        <p:spPr>
          <a:xfrm>
            <a:off x="3732545" y="2018311"/>
            <a:ext cx="2819990" cy="2817947"/>
          </a:xfrm>
          <a:custGeom>
            <a:avLst/>
            <a:gdLst>
              <a:gd name="connsiteX0" fmla="*/ 1412571 w 2825140"/>
              <a:gd name="connsiteY0" fmla="*/ 0 h 2825140"/>
              <a:gd name="connsiteX1" fmla="*/ 2825140 w 2825140"/>
              <a:gd name="connsiteY1" fmla="*/ 1412570 h 2825140"/>
              <a:gd name="connsiteX2" fmla="*/ 1412571 w 2825140"/>
              <a:gd name="connsiteY2" fmla="*/ 2825140 h 2825140"/>
              <a:gd name="connsiteX3" fmla="*/ 0 w 2825140"/>
              <a:gd name="connsiteY3" fmla="*/ 1412570 h 2825140"/>
            </a:gdLst>
            <a:ahLst/>
            <a:cxnLst>
              <a:cxn ang="0">
                <a:pos x="connsiteX0" y="connsiteY0"/>
              </a:cxn>
              <a:cxn ang="0">
                <a:pos x="connsiteX1" y="connsiteY1"/>
              </a:cxn>
              <a:cxn ang="0">
                <a:pos x="connsiteX2" y="connsiteY2"/>
              </a:cxn>
              <a:cxn ang="0">
                <a:pos x="connsiteX3" y="connsiteY3"/>
              </a:cxn>
            </a:cxnLst>
            <a:rect l="l" t="t" r="r" b="b"/>
            <a:pathLst>
              <a:path w="2825140" h="2825140">
                <a:moveTo>
                  <a:pt x="1412571" y="0"/>
                </a:moveTo>
                <a:lnTo>
                  <a:pt x="2825140" y="1412570"/>
                </a:lnTo>
                <a:lnTo>
                  <a:pt x="1412571" y="2825140"/>
                </a:lnTo>
                <a:lnTo>
                  <a:pt x="0" y="1412570"/>
                </a:lnTo>
                <a:close/>
              </a:path>
            </a:pathLst>
          </a:custGeom>
          <a:solidFill>
            <a:schemeClr val="bg1">
              <a:lumMod val="95000"/>
            </a:schemeClr>
          </a:solidFill>
          <a:effectLst/>
        </p:spPr>
        <p:txBody>
          <a:bodyPr wrap="square" anchor="ctr">
            <a:noAutofit/>
          </a:bodyPr>
          <a:lstStyle>
            <a:lvl1pPr marL="0" marR="0" indent="0" algn="ctr" defTabSz="912114" rtl="0" eaLnBrk="1" fontAlgn="auto" latinLnBrk="1" hangingPunct="1">
              <a:lnSpc>
                <a:spcPct val="90000"/>
              </a:lnSpc>
              <a:spcBef>
                <a:spcPts val="998"/>
              </a:spcBef>
              <a:spcAft>
                <a:spcPts val="0"/>
              </a:spcAft>
              <a:buClrTx/>
              <a:buSzTx/>
              <a:buFontTx/>
              <a:buNone/>
              <a:tabLst/>
              <a:defRPr sz="1197"/>
            </a:lvl1pPr>
          </a:lstStyle>
          <a:p>
            <a:pPr lvl="0"/>
            <a:r>
              <a:rPr lang="it-IT" altLang="ko-KR" noProof="0" dirty="0"/>
              <a:t>Fare clic sull'icona per inserire un'immagine</a:t>
            </a:r>
            <a:endParaRPr lang="ko-KR" altLang="en-US" noProof="0" dirty="0"/>
          </a:p>
        </p:txBody>
      </p:sp>
      <p:sp>
        <p:nvSpPr>
          <p:cNvPr id="12" name="그림 개체 틀 16">
            <a:extLst/>
          </p:cNvPr>
          <p:cNvSpPr>
            <a:spLocks noGrp="1"/>
          </p:cNvSpPr>
          <p:nvPr>
            <p:ph type="pic" sz="quarter" idx="13"/>
          </p:nvPr>
        </p:nvSpPr>
        <p:spPr>
          <a:xfrm>
            <a:off x="2156623" y="3574847"/>
            <a:ext cx="2819990" cy="2817947"/>
          </a:xfrm>
          <a:custGeom>
            <a:avLst/>
            <a:gdLst>
              <a:gd name="connsiteX0" fmla="*/ 1412570 w 2825140"/>
              <a:gd name="connsiteY0" fmla="*/ 0 h 2825140"/>
              <a:gd name="connsiteX1" fmla="*/ 2825140 w 2825140"/>
              <a:gd name="connsiteY1" fmla="*/ 1412570 h 2825140"/>
              <a:gd name="connsiteX2" fmla="*/ 1412570 w 2825140"/>
              <a:gd name="connsiteY2" fmla="*/ 2825140 h 2825140"/>
              <a:gd name="connsiteX3" fmla="*/ 0 w 2825140"/>
              <a:gd name="connsiteY3" fmla="*/ 1412570 h 2825140"/>
            </a:gdLst>
            <a:ahLst/>
            <a:cxnLst>
              <a:cxn ang="0">
                <a:pos x="connsiteX0" y="connsiteY0"/>
              </a:cxn>
              <a:cxn ang="0">
                <a:pos x="connsiteX1" y="connsiteY1"/>
              </a:cxn>
              <a:cxn ang="0">
                <a:pos x="connsiteX2" y="connsiteY2"/>
              </a:cxn>
              <a:cxn ang="0">
                <a:pos x="connsiteX3" y="connsiteY3"/>
              </a:cxn>
            </a:cxnLst>
            <a:rect l="l" t="t" r="r" b="b"/>
            <a:pathLst>
              <a:path w="2825140" h="2825140">
                <a:moveTo>
                  <a:pt x="1412570" y="0"/>
                </a:moveTo>
                <a:lnTo>
                  <a:pt x="2825140" y="1412570"/>
                </a:lnTo>
                <a:lnTo>
                  <a:pt x="1412570" y="2825140"/>
                </a:lnTo>
                <a:lnTo>
                  <a:pt x="0" y="1412570"/>
                </a:lnTo>
                <a:close/>
              </a:path>
            </a:pathLst>
          </a:custGeom>
          <a:solidFill>
            <a:schemeClr val="bg1">
              <a:lumMod val="95000"/>
            </a:schemeClr>
          </a:solidFill>
          <a:effectLst/>
        </p:spPr>
        <p:txBody>
          <a:bodyPr wrap="square" anchor="ctr">
            <a:noAutofit/>
          </a:bodyPr>
          <a:lstStyle>
            <a:lvl1pPr marL="0" marR="0" indent="0" algn="ctr" defTabSz="912114" rtl="0" eaLnBrk="1" fontAlgn="auto" latinLnBrk="1" hangingPunct="1">
              <a:lnSpc>
                <a:spcPct val="90000"/>
              </a:lnSpc>
              <a:spcBef>
                <a:spcPts val="998"/>
              </a:spcBef>
              <a:spcAft>
                <a:spcPts val="0"/>
              </a:spcAft>
              <a:buClrTx/>
              <a:buSzTx/>
              <a:buFontTx/>
              <a:buNone/>
              <a:tabLst/>
              <a:defRPr sz="1197"/>
            </a:lvl1pPr>
          </a:lstStyle>
          <a:p>
            <a:pPr lvl="0"/>
            <a:r>
              <a:rPr lang="it-IT" altLang="ko-KR" noProof="0" dirty="0"/>
              <a:t>Fare clic sull'icona per inserire un'immagine</a:t>
            </a:r>
            <a:endParaRPr lang="ko-KR" altLang="en-US" noProof="0" dirty="0"/>
          </a:p>
        </p:txBody>
      </p:sp>
      <p:sp>
        <p:nvSpPr>
          <p:cNvPr id="13" name="그림 개체 틀 17">
            <a:extLst/>
          </p:cNvPr>
          <p:cNvSpPr>
            <a:spLocks noGrp="1"/>
          </p:cNvSpPr>
          <p:nvPr>
            <p:ph type="pic" sz="quarter" idx="14"/>
          </p:nvPr>
        </p:nvSpPr>
        <p:spPr>
          <a:xfrm>
            <a:off x="5282270" y="3574847"/>
            <a:ext cx="2819990" cy="2817947"/>
          </a:xfrm>
          <a:custGeom>
            <a:avLst/>
            <a:gdLst>
              <a:gd name="connsiteX0" fmla="*/ 1412570 w 2825140"/>
              <a:gd name="connsiteY0" fmla="*/ 0 h 2825140"/>
              <a:gd name="connsiteX1" fmla="*/ 2825140 w 2825140"/>
              <a:gd name="connsiteY1" fmla="*/ 1412570 h 2825140"/>
              <a:gd name="connsiteX2" fmla="*/ 1412570 w 2825140"/>
              <a:gd name="connsiteY2" fmla="*/ 2825140 h 2825140"/>
              <a:gd name="connsiteX3" fmla="*/ 0 w 2825140"/>
              <a:gd name="connsiteY3" fmla="*/ 1412570 h 2825140"/>
            </a:gdLst>
            <a:ahLst/>
            <a:cxnLst>
              <a:cxn ang="0">
                <a:pos x="connsiteX0" y="connsiteY0"/>
              </a:cxn>
              <a:cxn ang="0">
                <a:pos x="connsiteX1" y="connsiteY1"/>
              </a:cxn>
              <a:cxn ang="0">
                <a:pos x="connsiteX2" y="connsiteY2"/>
              </a:cxn>
              <a:cxn ang="0">
                <a:pos x="connsiteX3" y="connsiteY3"/>
              </a:cxn>
            </a:cxnLst>
            <a:rect l="l" t="t" r="r" b="b"/>
            <a:pathLst>
              <a:path w="2825140" h="2825140">
                <a:moveTo>
                  <a:pt x="1412570" y="0"/>
                </a:moveTo>
                <a:lnTo>
                  <a:pt x="2825140" y="1412570"/>
                </a:lnTo>
                <a:lnTo>
                  <a:pt x="1412570" y="2825140"/>
                </a:lnTo>
                <a:lnTo>
                  <a:pt x="0" y="1412570"/>
                </a:lnTo>
                <a:close/>
              </a:path>
            </a:pathLst>
          </a:custGeom>
          <a:solidFill>
            <a:schemeClr val="bg1">
              <a:lumMod val="95000"/>
            </a:schemeClr>
          </a:solidFill>
          <a:effectLst/>
        </p:spPr>
        <p:txBody>
          <a:bodyPr wrap="square" anchor="ctr">
            <a:noAutofit/>
          </a:bodyPr>
          <a:lstStyle>
            <a:lvl1pPr marL="0" marR="0" indent="0" algn="ctr" defTabSz="912114" rtl="0" eaLnBrk="1" fontAlgn="auto" latinLnBrk="1" hangingPunct="1">
              <a:lnSpc>
                <a:spcPct val="90000"/>
              </a:lnSpc>
              <a:spcBef>
                <a:spcPts val="998"/>
              </a:spcBef>
              <a:spcAft>
                <a:spcPts val="0"/>
              </a:spcAft>
              <a:buClrTx/>
              <a:buSzTx/>
              <a:buFontTx/>
              <a:buNone/>
              <a:tabLst/>
              <a:defRPr sz="1197"/>
            </a:lvl1pPr>
          </a:lstStyle>
          <a:p>
            <a:pPr lvl="0"/>
            <a:r>
              <a:rPr lang="it-IT" altLang="ko-KR" noProof="0" dirty="0"/>
              <a:t>Fare clic sull'icona per inserire un'immagine</a:t>
            </a:r>
            <a:endParaRPr lang="ko-KR" altLang="en-US" noProof="0" dirty="0"/>
          </a:p>
        </p:txBody>
      </p:sp>
    </p:spTree>
    <p:extLst>
      <p:ext uri="{BB962C8B-B14F-4D97-AF65-F5344CB8AC3E}">
        <p14:creationId xmlns:p14="http://schemas.microsoft.com/office/powerpoint/2010/main" val="3362803428"/>
      </p:ext>
    </p:extLst>
  </p:cSld>
  <p:clrMapOvr>
    <a:masterClrMapping/>
  </p:clrMapOvr>
  <p:transition spd="med">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608489" y="273939"/>
            <a:ext cx="10952797" cy="1140090"/>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608489" y="1596127"/>
            <a:ext cx="10952797" cy="4514439"/>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608489" y="6340167"/>
            <a:ext cx="2839615" cy="364195"/>
          </a:xfrm>
          <a:prstGeom prst="rect">
            <a:avLst/>
          </a:prstGeom>
        </p:spPr>
        <p:txBody>
          <a:bodyPr vert="horz" lIns="91440" tIns="45720" rIns="91440" bIns="45720" rtlCol="0" anchor="ctr"/>
          <a:lstStyle>
            <a:lvl1pPr algn="l">
              <a:defRPr sz="1200">
                <a:solidFill>
                  <a:schemeClr val="tx1">
                    <a:tint val="75000"/>
                  </a:schemeClr>
                </a:solidFill>
              </a:defRPr>
            </a:lvl1pPr>
          </a:lstStyle>
          <a:p>
            <a:fld id="{B0AAC118-B041-4DF4-BB70-9BE415F97D38}" type="datetimeFigureOut">
              <a:rPr lang="it-IT" smtClean="0"/>
              <a:pPr/>
              <a:t>26/12/2025</a:t>
            </a:fld>
            <a:endParaRPr lang="it-IT"/>
          </a:p>
        </p:txBody>
      </p:sp>
      <p:sp>
        <p:nvSpPr>
          <p:cNvPr id="5" name="Segnaposto piè di pagina 4"/>
          <p:cNvSpPr>
            <a:spLocks noGrp="1"/>
          </p:cNvSpPr>
          <p:nvPr>
            <p:ph type="ftr" sz="quarter" idx="3"/>
          </p:nvPr>
        </p:nvSpPr>
        <p:spPr>
          <a:xfrm>
            <a:off x="4158007" y="6340167"/>
            <a:ext cx="3853762" cy="36419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721671" y="6340167"/>
            <a:ext cx="2839615" cy="364195"/>
          </a:xfrm>
          <a:prstGeom prst="rect">
            <a:avLst/>
          </a:prstGeom>
        </p:spPr>
        <p:txBody>
          <a:bodyPr vert="horz" lIns="91440" tIns="45720" rIns="91440" bIns="45720" rtlCol="0" anchor="ctr"/>
          <a:lstStyle>
            <a:lvl1pPr algn="r">
              <a:defRPr sz="1200">
                <a:solidFill>
                  <a:schemeClr val="tx1">
                    <a:tint val="75000"/>
                  </a:schemeClr>
                </a:solidFill>
              </a:defRPr>
            </a:lvl1pPr>
          </a:lstStyle>
          <a:p>
            <a:fld id="{CB37C9AA-D8EB-4971-BD1F-3D5CC04211E8}"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5" name="CasellaDiTesto 15"/>
          <p:cNvSpPr txBox="1">
            <a:spLocks noChangeArrowheads="1"/>
          </p:cNvSpPr>
          <p:nvPr/>
        </p:nvSpPr>
        <p:spPr bwMode="auto">
          <a:xfrm>
            <a:off x="7476135" y="4558737"/>
            <a:ext cx="5074034" cy="1473480"/>
          </a:xfrm>
          <a:prstGeom prst="rect">
            <a:avLst/>
          </a:prstGeom>
          <a:noFill/>
          <a:ln w="9525">
            <a:noFill/>
            <a:miter lim="800000"/>
            <a:headEnd/>
            <a:tailEnd/>
          </a:ln>
        </p:spPr>
        <p:txBody>
          <a:bodyPr wrap="square">
            <a:spAutoFit/>
          </a:bodyPr>
          <a:lstStyle/>
          <a:p>
            <a:pPr algn="ctr"/>
            <a:r>
              <a:rPr lang="it-IT" sz="1795" b="1" dirty="0">
                <a:latin typeface="Calibri" pitchFamily="34" charset="0"/>
                <a:cs typeface="Calibri" pitchFamily="34" charset="0"/>
              </a:rPr>
              <a:t>Gruppo di lavoro:</a:t>
            </a:r>
          </a:p>
          <a:p>
            <a:pPr algn="ctr"/>
            <a:r>
              <a:rPr lang="it-IT" sz="1795" b="1" dirty="0">
                <a:latin typeface="Calibri" pitchFamily="34" charset="0"/>
                <a:cs typeface="Calibri" pitchFamily="34" charset="0"/>
              </a:rPr>
              <a:t>Francesca </a:t>
            </a:r>
            <a:r>
              <a:rPr lang="it-IT" sz="1795" b="1" dirty="0" err="1">
                <a:latin typeface="Calibri" pitchFamily="34" charset="0"/>
                <a:cs typeface="Calibri" pitchFamily="34" charset="0"/>
              </a:rPr>
              <a:t>Azzena</a:t>
            </a:r>
            <a:r>
              <a:rPr lang="it-IT" sz="1795" b="1" dirty="0">
                <a:latin typeface="Calibri" pitchFamily="34" charset="0"/>
                <a:cs typeface="Calibri" pitchFamily="34" charset="0"/>
              </a:rPr>
              <a:t>, Valentina Ceccarini,</a:t>
            </a:r>
          </a:p>
          <a:p>
            <a:pPr algn="ctr"/>
            <a:r>
              <a:rPr lang="it-IT" sz="1795" b="1" dirty="0">
                <a:latin typeface="Calibri" pitchFamily="34" charset="0"/>
                <a:cs typeface="Calibri" pitchFamily="34" charset="0"/>
              </a:rPr>
              <a:t>Stefano </a:t>
            </a:r>
            <a:r>
              <a:rPr lang="it-IT" sz="1795" b="1" dirty="0" err="1">
                <a:latin typeface="Calibri" pitchFamily="34" charset="0"/>
                <a:cs typeface="Calibri" pitchFamily="34" charset="0"/>
              </a:rPr>
              <a:t>Biggeri</a:t>
            </a:r>
            <a:r>
              <a:rPr lang="it-IT" sz="1795" b="1" dirty="0">
                <a:latin typeface="Calibri" pitchFamily="34" charset="0"/>
                <a:cs typeface="Calibri" pitchFamily="34" charset="0"/>
              </a:rPr>
              <a:t>, Stefano </a:t>
            </a:r>
            <a:r>
              <a:rPr lang="it-IT" sz="1795" b="1" dirty="0" err="1">
                <a:latin typeface="Calibri" pitchFamily="34" charset="0"/>
                <a:cs typeface="Calibri" pitchFamily="34" charset="0"/>
              </a:rPr>
              <a:t>Surlinelli</a:t>
            </a:r>
            <a:r>
              <a:rPr lang="it-IT" sz="1795" b="1" dirty="0">
                <a:latin typeface="Calibri" pitchFamily="34" charset="0"/>
                <a:cs typeface="Calibri" pitchFamily="34" charset="0"/>
              </a:rPr>
              <a:t>,</a:t>
            </a:r>
          </a:p>
          <a:p>
            <a:pPr algn="ctr"/>
            <a:r>
              <a:rPr lang="it-IT" sz="1795" b="1" dirty="0">
                <a:latin typeface="Calibri" pitchFamily="34" charset="0"/>
                <a:cs typeface="Calibri" pitchFamily="34" charset="0"/>
              </a:rPr>
              <a:t>Giuseppina Terranova</a:t>
            </a:r>
          </a:p>
          <a:p>
            <a:pPr algn="ctr"/>
            <a:r>
              <a:rPr lang="it-IT" sz="1795" b="1" dirty="0">
                <a:latin typeface="Calibri" pitchFamily="34" charset="0"/>
                <a:cs typeface="Calibri" pitchFamily="34" charset="0"/>
              </a:rPr>
              <a:t>Azienda USL Toscana Nordovest</a:t>
            </a:r>
          </a:p>
        </p:txBody>
      </p:sp>
      <p:pic>
        <p:nvPicPr>
          <p:cNvPr id="22" name="Segnaposto immagine 21" descr="Diapositiva1-1.jpg"/>
          <p:cNvPicPr>
            <a:picLocks noGrp="1" noChangeAspect="1"/>
          </p:cNvPicPr>
          <p:nvPr>
            <p:ph type="pic" sz="quarter" idx="11"/>
          </p:nvPr>
        </p:nvPicPr>
        <p:blipFill>
          <a:blip r:embed="rId2" cstate="print"/>
          <a:srcRect l="21859" r="21859"/>
          <a:stretch>
            <a:fillRect/>
          </a:stretch>
        </p:blipFill>
        <p:spPr/>
      </p:pic>
      <p:pic>
        <p:nvPicPr>
          <p:cNvPr id="15" name="Picture 4">
            <a:extLst>
              <a:ext uri="{FF2B5EF4-FFF2-40B4-BE49-F238E27FC236}">
                <a16:creationId xmlns:a16="http://schemas.microsoft.com/office/drawing/2014/main" id="{4FA4972F-C1AB-4EC4-913C-B9980DAA6F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0028" y="250222"/>
            <a:ext cx="2229880" cy="851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
            <a:extLst>
              <a:ext uri="{FF2B5EF4-FFF2-40B4-BE49-F238E27FC236}">
                <a16:creationId xmlns:a16="http://schemas.microsoft.com/office/drawing/2014/main" id="{C0BD869D-63AA-431B-86A8-D57070E486AF}"/>
              </a:ext>
            </a:extLst>
          </p:cNvPr>
          <p:cNvPicPr>
            <a:picLocks noChangeAspect="1" noChangeArrowheads="1"/>
          </p:cNvPicPr>
          <p:nvPr/>
        </p:nvPicPr>
        <p:blipFill>
          <a:blip r:embed="rId4" cstate="print"/>
          <a:srcRect/>
          <a:stretch>
            <a:fillRect/>
          </a:stretch>
        </p:blipFill>
        <p:spPr bwMode="auto">
          <a:xfrm>
            <a:off x="9059891" y="169615"/>
            <a:ext cx="2418187" cy="1095396"/>
          </a:xfrm>
          <a:prstGeom prst="rect">
            <a:avLst/>
          </a:prstGeom>
          <a:noFill/>
          <a:ln w="9525">
            <a:noFill/>
            <a:miter lim="800000"/>
            <a:headEnd/>
            <a:tailEnd/>
          </a:ln>
        </p:spPr>
      </p:pic>
      <p:sp>
        <p:nvSpPr>
          <p:cNvPr id="19" name="Sottotitolo 4">
            <a:extLst>
              <a:ext uri="{FF2B5EF4-FFF2-40B4-BE49-F238E27FC236}">
                <a16:creationId xmlns:a16="http://schemas.microsoft.com/office/drawing/2014/main" id="{4B084FB1-756E-4EB4-8C79-097318CF16D1}"/>
              </a:ext>
            </a:extLst>
          </p:cNvPr>
          <p:cNvSpPr txBox="1">
            <a:spLocks/>
          </p:cNvSpPr>
          <p:nvPr/>
        </p:nvSpPr>
        <p:spPr>
          <a:xfrm>
            <a:off x="5796855" y="1789544"/>
            <a:ext cx="6228904" cy="1736809"/>
          </a:xfrm>
          <a:prstGeom prst="rect">
            <a:avLst/>
          </a:prstGeom>
        </p:spPr>
        <p:txBody>
          <a:bodyPr>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t-IT" b="1" dirty="0">
                <a:solidFill>
                  <a:srgbClr val="0070C0"/>
                </a:solidFill>
              </a:rPr>
              <a:t>Percorso aziendale per la valutazione di appropriatezza delle richieste di acquisizione di nuove tecnologie/servizi</a:t>
            </a:r>
            <a:endParaRPr lang="it-IT" sz="3600" b="1" dirty="0">
              <a:solidFill>
                <a:srgbClr val="0070C0"/>
              </a:solidFill>
            </a:endParaRPr>
          </a:p>
        </p:txBody>
      </p:sp>
      <p:sp>
        <p:nvSpPr>
          <p:cNvPr id="21" name="CasellaDiTesto 20">
            <a:extLst>
              <a:ext uri="{FF2B5EF4-FFF2-40B4-BE49-F238E27FC236}">
                <a16:creationId xmlns:a16="http://schemas.microsoft.com/office/drawing/2014/main" id="{B719E22A-5F5A-4BA8-859C-C0C2BA217325}"/>
              </a:ext>
            </a:extLst>
          </p:cNvPr>
          <p:cNvSpPr txBox="1"/>
          <p:nvPr/>
        </p:nvSpPr>
        <p:spPr>
          <a:xfrm>
            <a:off x="6875723" y="3671258"/>
            <a:ext cx="4536504" cy="523220"/>
          </a:xfrm>
          <a:prstGeom prst="rect">
            <a:avLst/>
          </a:prstGeom>
          <a:noFill/>
        </p:spPr>
        <p:txBody>
          <a:bodyPr wrap="square" rtlCol="0">
            <a:spAutoFit/>
          </a:bodyPr>
          <a:lstStyle/>
          <a:p>
            <a:pPr algn="ctr"/>
            <a:r>
              <a:rPr lang="it-IT" sz="2800" b="1" dirty="0">
                <a:solidFill>
                  <a:srgbClr val="0070C0"/>
                </a:solidFill>
              </a:rPr>
              <a:t>29-12-2025</a:t>
            </a:r>
          </a:p>
        </p:txBody>
      </p:sp>
      <p:pic>
        <p:nvPicPr>
          <p:cNvPr id="23" name="Segnaposto immagine 22">
            <a:extLst>
              <a:ext uri="{FF2B5EF4-FFF2-40B4-BE49-F238E27FC236}">
                <a16:creationId xmlns:a16="http://schemas.microsoft.com/office/drawing/2014/main" id="{5185664D-DEFA-4518-83AE-90565928273F}"/>
              </a:ext>
            </a:extLst>
          </p:cNvPr>
          <p:cNvPicPr>
            <a:picLocks noGrp="1" noChangeAspect="1"/>
          </p:cNvPicPr>
          <p:nvPr>
            <p:ph type="pic" sz="quarter" idx="13"/>
          </p:nvPr>
        </p:nvPicPr>
        <p:blipFill>
          <a:blip r:embed="rId5">
            <a:extLst>
              <a:ext uri="{28A0092B-C50C-407E-A947-70E740481C1C}">
                <a14:useLocalDpi xmlns:a14="http://schemas.microsoft.com/office/drawing/2010/main" val="0"/>
              </a:ext>
            </a:extLst>
          </a:blip>
          <a:srcRect l="16709" r="16709"/>
          <a:stretch>
            <a:fillRect/>
          </a:stretch>
        </p:blipFill>
        <p:spPr/>
      </p:pic>
      <p:pic>
        <p:nvPicPr>
          <p:cNvPr id="27" name="Segnaposto immagine 26">
            <a:extLst>
              <a:ext uri="{FF2B5EF4-FFF2-40B4-BE49-F238E27FC236}">
                <a16:creationId xmlns:a16="http://schemas.microsoft.com/office/drawing/2014/main" id="{2389677B-F515-4D97-8180-79E18F08AFB6}"/>
              </a:ext>
            </a:extLst>
          </p:cNvPr>
          <p:cNvPicPr>
            <a:picLocks noGrp="1" noChangeAspect="1"/>
          </p:cNvPicPr>
          <p:nvPr>
            <p:ph type="pic" sz="quarter" idx="12"/>
          </p:nvPr>
        </p:nvPicPr>
        <p:blipFill>
          <a:blip r:embed="rId6">
            <a:extLst>
              <a:ext uri="{28A0092B-C50C-407E-A947-70E740481C1C}">
                <a14:useLocalDpi xmlns:a14="http://schemas.microsoft.com/office/drawing/2010/main" val="0"/>
              </a:ext>
            </a:extLst>
          </a:blip>
          <a:srcRect l="16690" r="16690"/>
          <a:stretch>
            <a:fillRect/>
          </a:stretch>
        </p:blipFill>
        <p:spPr/>
      </p:pic>
      <p:pic>
        <p:nvPicPr>
          <p:cNvPr id="57" name="Segnaposto immagine 56">
            <a:extLst>
              <a:ext uri="{FF2B5EF4-FFF2-40B4-BE49-F238E27FC236}">
                <a16:creationId xmlns:a16="http://schemas.microsoft.com/office/drawing/2014/main" id="{1B83B2E4-BE9D-46E0-B3BA-74FA178B10F1}"/>
              </a:ext>
            </a:extLst>
          </p:cNvPr>
          <p:cNvPicPr>
            <a:picLocks noGrp="1" noChangeAspect="1"/>
          </p:cNvPicPr>
          <p:nvPr>
            <p:ph type="pic" sz="quarter" idx="14"/>
          </p:nvPr>
        </p:nvPicPr>
        <p:blipFill>
          <a:blip r:embed="rId7">
            <a:extLst>
              <a:ext uri="{28A0092B-C50C-407E-A947-70E740481C1C}">
                <a14:useLocalDpi xmlns:a14="http://schemas.microsoft.com/office/drawing/2010/main" val="0"/>
              </a:ext>
            </a:extLst>
          </a:blip>
          <a:srcRect t="3992" b="3992"/>
          <a:stretch>
            <a:fillRect/>
          </a:stretch>
        </p:blipFill>
        <p:spPr/>
      </p:pic>
      <p:pic>
        <p:nvPicPr>
          <p:cNvPr id="61" name="Segnaposto immagine 60">
            <a:extLst>
              <a:ext uri="{FF2B5EF4-FFF2-40B4-BE49-F238E27FC236}">
                <a16:creationId xmlns:a16="http://schemas.microsoft.com/office/drawing/2014/main" id="{4FBDFF9B-BB3B-4606-A12C-947D8312257D}"/>
              </a:ext>
            </a:extLst>
          </p:cNvPr>
          <p:cNvPicPr>
            <a:picLocks noGrp="1" noChangeAspect="1"/>
          </p:cNvPicPr>
          <p:nvPr>
            <p:ph type="pic" sz="quarter" idx="10"/>
          </p:nvPr>
        </p:nvPicPr>
        <p:blipFill>
          <a:blip r:embed="rId8">
            <a:extLst>
              <a:ext uri="{28A0092B-C50C-407E-A947-70E740481C1C}">
                <a14:useLocalDpi xmlns:a14="http://schemas.microsoft.com/office/drawing/2010/main" val="0"/>
              </a:ext>
            </a:extLst>
          </a:blip>
          <a:srcRect l="24191" r="24191"/>
          <a:stretch>
            <a:fillRect/>
          </a:stretch>
        </p:blipFill>
        <p:spPr/>
      </p:pic>
    </p:spTree>
  </p:cSld>
  <p:clrMapOvr>
    <a:masterClrMapping/>
  </p:clrMapOvr>
  <p:transition spd="med">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835D8581-FEBA-4CB0-ABED-E4DF6727444B}"/>
              </a:ext>
            </a:extLst>
          </p:cNvPr>
          <p:cNvSpPr txBox="1"/>
          <p:nvPr/>
        </p:nvSpPr>
        <p:spPr>
          <a:xfrm>
            <a:off x="2196455" y="161280"/>
            <a:ext cx="7992888" cy="1323439"/>
          </a:xfrm>
          <a:prstGeom prst="rect">
            <a:avLst/>
          </a:prstGeom>
          <a:noFill/>
        </p:spPr>
        <p:txBody>
          <a:bodyPr wrap="square" rtlCol="0">
            <a:spAutoFit/>
          </a:bodyPr>
          <a:lstStyle/>
          <a:p>
            <a:pPr algn="ctr"/>
            <a:r>
              <a:rPr lang="it-IT" sz="4000" b="1" dirty="0">
                <a:solidFill>
                  <a:srgbClr val="0070C0"/>
                </a:solidFill>
              </a:rPr>
              <a:t>21 ottobre 2025</a:t>
            </a:r>
          </a:p>
          <a:p>
            <a:pPr algn="ctr"/>
            <a:r>
              <a:rPr lang="it-IT" sz="4000" b="1" dirty="0">
                <a:solidFill>
                  <a:srgbClr val="0070C0"/>
                </a:solidFill>
              </a:rPr>
              <a:t>Il mandato della Direzione</a:t>
            </a:r>
          </a:p>
        </p:txBody>
      </p:sp>
      <p:sp>
        <p:nvSpPr>
          <p:cNvPr id="3" name="CasellaDiTesto 2">
            <a:extLst>
              <a:ext uri="{FF2B5EF4-FFF2-40B4-BE49-F238E27FC236}">
                <a16:creationId xmlns:a16="http://schemas.microsoft.com/office/drawing/2014/main" id="{2F4DC223-2451-41CC-AAFF-405222FD811D}"/>
              </a:ext>
            </a:extLst>
          </p:cNvPr>
          <p:cNvSpPr txBox="1"/>
          <p:nvPr/>
        </p:nvSpPr>
        <p:spPr>
          <a:xfrm>
            <a:off x="540271" y="1980109"/>
            <a:ext cx="6264696" cy="4247317"/>
          </a:xfrm>
          <a:prstGeom prst="rect">
            <a:avLst/>
          </a:prstGeom>
          <a:noFill/>
        </p:spPr>
        <p:txBody>
          <a:bodyPr wrap="square" rtlCol="0">
            <a:spAutoFit/>
          </a:bodyPr>
          <a:lstStyle/>
          <a:p>
            <a:r>
              <a:rPr lang="it-IT" sz="2800" b="1" dirty="0"/>
              <a:t>Obiettivo</a:t>
            </a:r>
            <a:endParaRPr lang="it-IT" sz="2800" dirty="0"/>
          </a:p>
          <a:p>
            <a:pPr lvl="0"/>
            <a:r>
              <a:rPr lang="it-IT" sz="2800" dirty="0"/>
              <a:t>mettere a regime una </a:t>
            </a:r>
            <a:r>
              <a:rPr lang="it-IT" sz="2800" i="1" dirty="0"/>
              <a:t>procedura aziendale </a:t>
            </a:r>
            <a:r>
              <a:rPr lang="it-IT" sz="2800" dirty="0"/>
              <a:t>per l’introduzione di nuove tecnologie (grandi attrezzature, servizi, software, AI, dispositivi medici, farmaci, servizi) che preveda un circuito di valutazione a cura di tutte le funzioni coinvolte tracciabile e documentabile.</a:t>
            </a:r>
          </a:p>
          <a:p>
            <a:endParaRPr lang="it-IT" sz="2800" dirty="0"/>
          </a:p>
          <a:p>
            <a:endParaRPr lang="it-IT" dirty="0"/>
          </a:p>
        </p:txBody>
      </p:sp>
      <p:pic>
        <p:nvPicPr>
          <p:cNvPr id="1026" name="Picture 2" descr="Principi e tecniche del gruppo di lavoro (II parte) - Z3xmi">
            <a:extLst>
              <a:ext uri="{FF2B5EF4-FFF2-40B4-BE49-F238E27FC236}">
                <a16:creationId xmlns:a16="http://schemas.microsoft.com/office/drawing/2014/main" id="{205191E8-52DC-4EF8-9E36-190A61DE5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991" y="1660406"/>
            <a:ext cx="4129871" cy="2808312"/>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15">
            <a:extLst>
              <a:ext uri="{FF2B5EF4-FFF2-40B4-BE49-F238E27FC236}">
                <a16:creationId xmlns:a16="http://schemas.microsoft.com/office/drawing/2014/main" id="{87E768D6-B1ED-4B40-8D1D-5C1D27F020D8}"/>
              </a:ext>
            </a:extLst>
          </p:cNvPr>
          <p:cNvSpPr txBox="1">
            <a:spLocks noChangeArrowheads="1"/>
          </p:cNvSpPr>
          <p:nvPr/>
        </p:nvSpPr>
        <p:spPr bwMode="auto">
          <a:xfrm>
            <a:off x="6660951" y="4356373"/>
            <a:ext cx="5074034" cy="1197251"/>
          </a:xfrm>
          <a:prstGeom prst="rect">
            <a:avLst/>
          </a:prstGeom>
          <a:noFill/>
          <a:ln w="9525">
            <a:noFill/>
            <a:miter lim="800000"/>
            <a:headEnd/>
            <a:tailEnd/>
          </a:ln>
        </p:spPr>
        <p:txBody>
          <a:bodyPr wrap="square">
            <a:spAutoFit/>
          </a:bodyPr>
          <a:lstStyle/>
          <a:p>
            <a:pPr algn="ctr"/>
            <a:r>
              <a:rPr lang="it-IT" sz="1795" b="1" dirty="0">
                <a:latin typeface="Calibri" pitchFamily="34" charset="0"/>
                <a:cs typeface="Calibri" pitchFamily="34" charset="0"/>
              </a:rPr>
              <a:t>Gruppo di lavoro:</a:t>
            </a:r>
          </a:p>
          <a:p>
            <a:pPr algn="ctr"/>
            <a:r>
              <a:rPr lang="it-IT" sz="1795" b="1" dirty="0">
                <a:latin typeface="Calibri" pitchFamily="34" charset="0"/>
                <a:cs typeface="Calibri" pitchFamily="34" charset="0"/>
              </a:rPr>
              <a:t>Francesca </a:t>
            </a:r>
            <a:r>
              <a:rPr lang="it-IT" sz="1795" b="1" dirty="0" err="1">
                <a:latin typeface="Calibri" pitchFamily="34" charset="0"/>
                <a:cs typeface="Calibri" pitchFamily="34" charset="0"/>
              </a:rPr>
              <a:t>Azzena</a:t>
            </a:r>
            <a:r>
              <a:rPr lang="it-IT" sz="1795" b="1" dirty="0">
                <a:latin typeface="Calibri" pitchFamily="34" charset="0"/>
                <a:cs typeface="Calibri" pitchFamily="34" charset="0"/>
              </a:rPr>
              <a:t>, Valentina Ceccarini,</a:t>
            </a:r>
          </a:p>
          <a:p>
            <a:pPr algn="ctr"/>
            <a:r>
              <a:rPr lang="it-IT" sz="1795" b="1" dirty="0">
                <a:latin typeface="Calibri" pitchFamily="34" charset="0"/>
                <a:cs typeface="Calibri" pitchFamily="34" charset="0"/>
              </a:rPr>
              <a:t>Stefano </a:t>
            </a:r>
            <a:r>
              <a:rPr lang="it-IT" sz="1795" b="1" dirty="0" err="1">
                <a:latin typeface="Calibri" pitchFamily="34" charset="0"/>
                <a:cs typeface="Calibri" pitchFamily="34" charset="0"/>
              </a:rPr>
              <a:t>Biggeri</a:t>
            </a:r>
            <a:r>
              <a:rPr lang="it-IT" sz="1795" b="1" dirty="0">
                <a:latin typeface="Calibri" pitchFamily="34" charset="0"/>
                <a:cs typeface="Calibri" pitchFamily="34" charset="0"/>
              </a:rPr>
              <a:t>, Stefano </a:t>
            </a:r>
            <a:r>
              <a:rPr lang="it-IT" sz="1795" b="1" dirty="0" err="1">
                <a:latin typeface="Calibri" pitchFamily="34" charset="0"/>
                <a:cs typeface="Calibri" pitchFamily="34" charset="0"/>
              </a:rPr>
              <a:t>Surlinelli</a:t>
            </a:r>
            <a:r>
              <a:rPr lang="it-IT" sz="1795" b="1" dirty="0">
                <a:latin typeface="Calibri" pitchFamily="34" charset="0"/>
                <a:cs typeface="Calibri" pitchFamily="34" charset="0"/>
              </a:rPr>
              <a:t>,</a:t>
            </a:r>
          </a:p>
          <a:p>
            <a:pPr algn="ctr"/>
            <a:r>
              <a:rPr lang="it-IT" sz="1795" b="1" dirty="0">
                <a:latin typeface="Calibri" pitchFamily="34" charset="0"/>
                <a:cs typeface="Calibri" pitchFamily="34" charset="0"/>
              </a:rPr>
              <a:t>Giuseppina Terranova</a:t>
            </a:r>
          </a:p>
        </p:txBody>
      </p:sp>
    </p:spTree>
    <p:extLst>
      <p:ext uri="{BB962C8B-B14F-4D97-AF65-F5344CB8AC3E}">
        <p14:creationId xmlns:p14="http://schemas.microsoft.com/office/powerpoint/2010/main" val="8576981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D21B5307-35AD-405C-A638-A9F411E74AAD}"/>
              </a:ext>
            </a:extLst>
          </p:cNvPr>
          <p:cNvSpPr txBox="1"/>
          <p:nvPr/>
        </p:nvSpPr>
        <p:spPr>
          <a:xfrm>
            <a:off x="540271" y="-23535"/>
            <a:ext cx="11017224" cy="646331"/>
          </a:xfrm>
          <a:prstGeom prst="rect">
            <a:avLst/>
          </a:prstGeom>
          <a:noFill/>
        </p:spPr>
        <p:txBody>
          <a:bodyPr wrap="square" rtlCol="0">
            <a:spAutoFit/>
          </a:bodyPr>
          <a:lstStyle/>
          <a:p>
            <a:pPr algn="ctr"/>
            <a:r>
              <a:rPr lang="en-US" sz="3600" b="1" dirty="0" err="1">
                <a:solidFill>
                  <a:srgbClr val="4F81BD"/>
                </a:solidFill>
                <a:latin typeface="Calibri" panose="020F0502020204030204" pitchFamily="34" charset="0"/>
                <a:ea typeface="MS Gothic" panose="020B0609070205080204" pitchFamily="49" charset="-128"/>
                <a:cs typeface="Times New Roman" panose="02020603050405020304" pitchFamily="18" charset="0"/>
              </a:rPr>
              <a:t>Azioni</a:t>
            </a:r>
            <a:r>
              <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 di </a:t>
            </a:r>
            <a:r>
              <a:rPr lang="en-US" sz="3600" b="1" dirty="0" err="1">
                <a:solidFill>
                  <a:srgbClr val="4F81BD"/>
                </a:solidFill>
                <a:latin typeface="Calibri" panose="020F0502020204030204" pitchFamily="34" charset="0"/>
                <a:ea typeface="MS Gothic" panose="020B0609070205080204" pitchFamily="49" charset="-128"/>
                <a:cs typeface="Times New Roman" panose="02020603050405020304" pitchFamily="18" charset="0"/>
              </a:rPr>
              <a:t>governo</a:t>
            </a:r>
            <a:endPar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p:txBody>
      </p:sp>
      <p:sp>
        <p:nvSpPr>
          <p:cNvPr id="5" name="Rettangolo 4">
            <a:extLst>
              <a:ext uri="{FF2B5EF4-FFF2-40B4-BE49-F238E27FC236}">
                <a16:creationId xmlns:a16="http://schemas.microsoft.com/office/drawing/2014/main" id="{AC232661-4247-466D-AA08-29B5DA813BDE}"/>
              </a:ext>
            </a:extLst>
          </p:cNvPr>
          <p:cNvSpPr/>
          <p:nvPr/>
        </p:nvSpPr>
        <p:spPr>
          <a:xfrm>
            <a:off x="143519" y="622796"/>
            <a:ext cx="6997204" cy="584775"/>
          </a:xfrm>
          <a:prstGeom prst="rect">
            <a:avLst/>
          </a:prstGeom>
          <a:noFill/>
        </p:spPr>
        <p:txBody>
          <a:bodyPr wrap="square" lIns="91440" tIns="45720" rIns="91440" bIns="45720">
            <a:spAutoFit/>
          </a:bodyPr>
          <a:lstStyle/>
          <a:p>
            <a:pPr algn="ctr"/>
            <a:r>
              <a:rPr lang="it-IT" sz="3200" b="1" dirty="0">
                <a:ln w="22225">
                  <a:solidFill>
                    <a:schemeClr val="accent2"/>
                  </a:solidFill>
                  <a:prstDash val="solid"/>
                </a:ln>
                <a:solidFill>
                  <a:schemeClr val="accent2">
                    <a:lumMod val="40000"/>
                    <a:lumOff val="60000"/>
                  </a:schemeClr>
                </a:solidFill>
              </a:rPr>
              <a:t>DGRT n. 306 del 18-03-2024</a:t>
            </a:r>
          </a:p>
        </p:txBody>
      </p:sp>
      <p:sp>
        <p:nvSpPr>
          <p:cNvPr id="6" name="CasellaDiTesto 5">
            <a:extLst>
              <a:ext uri="{FF2B5EF4-FFF2-40B4-BE49-F238E27FC236}">
                <a16:creationId xmlns:a16="http://schemas.microsoft.com/office/drawing/2014/main" id="{CDCD036B-A446-4960-A117-684888300107}"/>
              </a:ext>
            </a:extLst>
          </p:cNvPr>
          <p:cNvSpPr txBox="1"/>
          <p:nvPr/>
        </p:nvSpPr>
        <p:spPr>
          <a:xfrm>
            <a:off x="160567" y="1188120"/>
            <a:ext cx="7143006" cy="5632311"/>
          </a:xfrm>
          <a:prstGeom prst="rect">
            <a:avLst/>
          </a:prstGeom>
          <a:noFill/>
        </p:spPr>
        <p:txBody>
          <a:bodyPr wrap="square" rtlCol="0">
            <a:spAutoFit/>
          </a:bodyPr>
          <a:lstStyle/>
          <a:p>
            <a:pPr marL="285750" indent="-285750">
              <a:buFont typeface="Arial" panose="020B0604020202020204" pitchFamily="34" charset="0"/>
              <a:buChar char="•"/>
            </a:pPr>
            <a:r>
              <a:rPr lang="it-IT" sz="2000" b="1" dirty="0"/>
              <a:t>Determinazione del valore dei dispositivi e dei fabbisogni (ESTAR)</a:t>
            </a:r>
          </a:p>
          <a:p>
            <a:pPr marL="285750" indent="-285750">
              <a:buFont typeface="Arial" panose="020B0604020202020204" pitchFamily="34" charset="0"/>
              <a:buChar char="•"/>
            </a:pPr>
            <a:r>
              <a:rPr lang="it-IT" sz="2000" b="1" dirty="0"/>
              <a:t>Tracciabilità dei dispositivi medici (ESTAR, AZIENDE)</a:t>
            </a:r>
          </a:p>
          <a:p>
            <a:pPr marL="285750" indent="-285750">
              <a:buFont typeface="Arial" panose="020B0604020202020204" pitchFamily="34" charset="0"/>
              <a:buChar char="•"/>
            </a:pPr>
            <a:r>
              <a:rPr lang="it-IT" sz="2000" b="1" dirty="0"/>
              <a:t>Gestione in conto deposito</a:t>
            </a:r>
          </a:p>
          <a:p>
            <a:pPr marL="285750" indent="-285750">
              <a:buFont typeface="Arial" panose="020B0604020202020204" pitchFamily="34" charset="0"/>
              <a:buChar char="•"/>
            </a:pPr>
            <a:r>
              <a:rPr lang="it-IT" sz="2000" b="1" dirty="0"/>
              <a:t>Divieto di acquisizione in donazione di apparecchiature funzionanti con materiale d’uso dedicato. Tale restrizione si applica anche ai comodati</a:t>
            </a:r>
            <a:r>
              <a:rPr lang="it-IT" sz="2000" dirty="0"/>
              <a:t>, salvo che gli stessi siano ricompresi nella procedura concorrenziale di acquisizione dei materiali dedicati…</a:t>
            </a:r>
          </a:p>
          <a:p>
            <a:pPr marL="285750" indent="-285750">
              <a:buFont typeface="Arial" panose="020B0604020202020204" pitchFamily="34" charset="0"/>
              <a:buChar char="•"/>
            </a:pPr>
            <a:r>
              <a:rPr lang="it-IT" sz="2000" b="1" dirty="0"/>
              <a:t>Monitoraggio spesa e consumi dispositivi medici </a:t>
            </a:r>
            <a:endParaRPr lang="it-IT" sz="2000" dirty="0"/>
          </a:p>
          <a:p>
            <a:pPr marL="285750" indent="-285750">
              <a:buFont typeface="Arial" panose="020B0604020202020204" pitchFamily="34" charset="0"/>
              <a:buChar char="•"/>
            </a:pPr>
            <a:r>
              <a:rPr lang="it-IT" sz="2000" b="1" dirty="0"/>
              <a:t>Individuazione di un farmacista referente DM per ogni PO</a:t>
            </a:r>
          </a:p>
          <a:p>
            <a:pPr marL="285750" indent="-285750">
              <a:buFont typeface="Arial" panose="020B0604020202020204" pitchFamily="34" charset="0"/>
              <a:buChar char="•"/>
            </a:pPr>
            <a:r>
              <a:rPr lang="it-IT" sz="2000" b="1" dirty="0"/>
              <a:t>Validazione delle richieste informatiche a cura del farmacista </a:t>
            </a:r>
            <a:r>
              <a:rPr lang="it-IT" sz="2000" dirty="0"/>
              <a:t>in funzione delle scorte di magazzino</a:t>
            </a:r>
            <a:endParaRPr lang="it-IT" sz="2000" b="1" dirty="0"/>
          </a:p>
          <a:p>
            <a:pPr marL="285750" indent="-285750">
              <a:buFont typeface="Arial" panose="020B0604020202020204" pitchFamily="34" charset="0"/>
              <a:buChar char="•"/>
            </a:pPr>
            <a:r>
              <a:rPr lang="it-IT" sz="2000" b="1" dirty="0"/>
              <a:t>Gestione dei dispositivi W (diagnostici in vitro) attraverso il benchmark e il controllo della spesa</a:t>
            </a:r>
            <a:endParaRPr lang="it-IT" sz="2000" dirty="0"/>
          </a:p>
          <a:p>
            <a:pPr marL="285750" indent="-285750">
              <a:buFont typeface="Arial" panose="020B0604020202020204" pitchFamily="34" charset="0"/>
              <a:buChar char="•"/>
            </a:pPr>
            <a:r>
              <a:rPr lang="it-IT" sz="2000" b="1" dirty="0"/>
              <a:t>Dashboard regionale di monitoraggio con consumi, spesa ed altri indicatori </a:t>
            </a:r>
          </a:p>
          <a:p>
            <a:pPr marL="285750" indent="-285750">
              <a:buFont typeface="Arial" panose="020B0604020202020204" pitchFamily="34" charset="0"/>
              <a:buChar char="•"/>
            </a:pPr>
            <a:r>
              <a:rPr lang="it-IT" sz="2000" b="1" dirty="0"/>
              <a:t>Revisione procedure interne allestimento banco operatorio </a:t>
            </a:r>
            <a:endParaRPr lang="it-IT" sz="2000" dirty="0"/>
          </a:p>
        </p:txBody>
      </p:sp>
      <p:pic>
        <p:nvPicPr>
          <p:cNvPr id="10" name="Immagine 9">
            <a:extLst>
              <a:ext uri="{FF2B5EF4-FFF2-40B4-BE49-F238E27FC236}">
                <a16:creationId xmlns:a16="http://schemas.microsoft.com/office/drawing/2014/main" id="{00745585-7D5A-47F0-8DDE-A649A7A3DFC5}"/>
              </a:ext>
            </a:extLst>
          </p:cNvPr>
          <p:cNvPicPr>
            <a:picLocks noChangeAspect="1"/>
          </p:cNvPicPr>
          <p:nvPr/>
        </p:nvPicPr>
        <p:blipFill>
          <a:blip r:embed="rId2"/>
          <a:stretch>
            <a:fillRect/>
          </a:stretch>
        </p:blipFill>
        <p:spPr>
          <a:xfrm>
            <a:off x="7453039" y="1332037"/>
            <a:ext cx="4203432" cy="50764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688136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mano, numero, pensiero, dito, simbolo, pensare, corpo umano, prodotto, Aiuto, font, illustrazione, pensatore, strategia, domanda, organo, icona, problema, cartone animato, personaggi, puzzle, ponderazione, prendere in considerazione, punto interrogativo, risposta, segni di punteggiatura, considerazione, perplessità, motore di ricerca, Domande aperte"/>
          <p:cNvPicPr>
            <a:picLocks noChangeAspect="1" noChangeArrowheads="1"/>
          </p:cNvPicPr>
          <p:nvPr/>
        </p:nvPicPr>
        <p:blipFill>
          <a:blip r:embed="rId3"/>
          <a:srcRect/>
          <a:stretch>
            <a:fillRect/>
          </a:stretch>
        </p:blipFill>
        <p:spPr bwMode="auto">
          <a:xfrm>
            <a:off x="8462701" y="1836093"/>
            <a:ext cx="3530379" cy="3816424"/>
          </a:xfrm>
          <a:prstGeom prst="rect">
            <a:avLst/>
          </a:prstGeom>
          <a:noFill/>
        </p:spPr>
      </p:pic>
      <p:sp>
        <p:nvSpPr>
          <p:cNvPr id="206851" name="AutoShape 3" descr="NOVITÀ IN ARRIVO PER VOI! | www.le1000e1notte.it"/>
          <p:cNvSpPr>
            <a:spLocks noChangeAspect="1" noChangeArrowheads="1"/>
          </p:cNvSpPr>
          <p:nvPr/>
        </p:nvSpPr>
        <p:spPr bwMode="auto">
          <a:xfrm>
            <a:off x="159588" y="-144093"/>
            <a:ext cx="304024" cy="304025"/>
          </a:xfrm>
          <a:prstGeom prst="rect">
            <a:avLst/>
          </a:prstGeom>
          <a:noFill/>
        </p:spPr>
        <p:txBody>
          <a:bodyPr vert="horz" wrap="square" lIns="91207" tIns="45604" rIns="91207" bIns="45604" numCol="1" anchor="t" anchorCtr="0" compatLnSpc="1">
            <a:prstTxWarp prst="textNoShape">
              <a:avLst/>
            </a:prstTxWarp>
          </a:bodyPr>
          <a:lstStyle/>
          <a:p>
            <a:endParaRPr lang="it-IT" sz="1795"/>
          </a:p>
        </p:txBody>
      </p:sp>
      <p:sp>
        <p:nvSpPr>
          <p:cNvPr id="7" name="Segnaposto contenuto 2"/>
          <p:cNvSpPr txBox="1">
            <a:spLocks/>
          </p:cNvSpPr>
          <p:nvPr/>
        </p:nvSpPr>
        <p:spPr>
          <a:xfrm>
            <a:off x="181439" y="1050650"/>
            <a:ext cx="9227495" cy="5299748"/>
          </a:xfrm>
          <a:prstGeom prst="rect">
            <a:avLst/>
          </a:prstGeom>
        </p:spPr>
        <p:txBody>
          <a:bodyPr lIns="91207" tIns="45604" rIns="91207" bIns="45604"/>
          <a:lstStyle/>
          <a:p>
            <a:pPr marL="412750" indent="-412750" algn="just" defTabSz="912091" eaLnBrk="0" hangingPunct="0">
              <a:lnSpc>
                <a:spcPct val="90000"/>
              </a:lnSpc>
              <a:buFont typeface="Arial" charset="0"/>
              <a:buChar char="•"/>
              <a:defRPr/>
            </a:pPr>
            <a:r>
              <a:rPr lang="it-IT" sz="2700" dirty="0">
                <a:latin typeface="Calibri" panose="020F0502020204030204" pitchFamily="34" charset="0"/>
                <a:ea typeface="Calibri" panose="020F0502020204030204" pitchFamily="34" charset="0"/>
                <a:cs typeface="Calibri" panose="020F0502020204030204" pitchFamily="34" charset="0"/>
              </a:rPr>
              <a:t>Non esiste una funzione strutturata aziendale per il governo dell’appropriatezza delle tecnologie sanitarie</a:t>
            </a:r>
          </a:p>
          <a:p>
            <a:pPr marL="412750" indent="-412750" algn="just" defTabSz="912091" eaLnBrk="0" hangingPunct="0">
              <a:lnSpc>
                <a:spcPct val="90000"/>
              </a:lnSpc>
              <a:buFont typeface="Arial" charset="0"/>
              <a:buChar char="•"/>
              <a:defRPr/>
            </a:pPr>
            <a:r>
              <a:rPr lang="it-IT" sz="2700" dirty="0">
                <a:latin typeface="Calibri" panose="020F0502020204030204" pitchFamily="34" charset="0"/>
                <a:ea typeface="Calibri" panose="020F0502020204030204" pitchFamily="34" charset="0"/>
                <a:cs typeface="Calibri" panose="020F0502020204030204" pitchFamily="34" charset="0"/>
              </a:rPr>
              <a:t>Il Centro operativo regionale HTA gestisce le valutazioni su dispositivi medici con classe di rischio &gt; a </a:t>
            </a:r>
            <a:r>
              <a:rPr lang="it-IT" sz="2700" dirty="0" err="1">
                <a:latin typeface="Calibri" panose="020F0502020204030204" pitchFamily="34" charset="0"/>
                <a:ea typeface="Calibri" panose="020F0502020204030204" pitchFamily="34" charset="0"/>
                <a:cs typeface="Calibri" panose="020F0502020204030204" pitchFamily="34" charset="0"/>
              </a:rPr>
              <a:t>IIa</a:t>
            </a:r>
            <a:r>
              <a:rPr lang="it-IT" sz="2700" dirty="0">
                <a:latin typeface="Calibri" panose="020F0502020204030204" pitchFamily="34" charset="0"/>
                <a:ea typeface="Calibri" panose="020F0502020204030204" pitchFamily="34" charset="0"/>
                <a:cs typeface="Calibri" panose="020F0502020204030204" pitchFamily="34" charset="0"/>
              </a:rPr>
              <a:t> e impiantabili attivi, non aggiudicati, innovativi, obsoleti.</a:t>
            </a:r>
          </a:p>
          <a:p>
            <a:pPr marL="412750" indent="-412750" algn="just" defTabSz="912091" eaLnBrk="0" hangingPunct="0">
              <a:lnSpc>
                <a:spcPct val="90000"/>
              </a:lnSpc>
              <a:buFont typeface="Arial" charset="0"/>
              <a:buChar char="•"/>
              <a:defRPr/>
            </a:pPr>
            <a:r>
              <a:rPr lang="it-IT" sz="2700" dirty="0">
                <a:latin typeface="Calibri" panose="020F0502020204030204" pitchFamily="34" charset="0"/>
                <a:ea typeface="Calibri" panose="020F0502020204030204" pitchFamily="34" charset="0"/>
                <a:cs typeface="Calibri" panose="020F0502020204030204" pitchFamily="34" charset="0"/>
              </a:rPr>
              <a:t>Le Aziende contattano i clinici per illustrare i loro prodotti (effetto «vetrina»)</a:t>
            </a:r>
          </a:p>
          <a:p>
            <a:pPr marL="412750" indent="-412750" algn="just" defTabSz="912091" eaLnBrk="0" hangingPunct="0">
              <a:lnSpc>
                <a:spcPct val="90000"/>
              </a:lnSpc>
              <a:buFont typeface="Arial" charset="0"/>
              <a:buChar char="•"/>
              <a:defRPr/>
            </a:pPr>
            <a:r>
              <a:rPr lang="it-IT" sz="2700" dirty="0">
                <a:latin typeface="Calibri" panose="020F0502020204030204" pitchFamily="34" charset="0"/>
                <a:ea typeface="Calibri" panose="020F0502020204030204" pitchFamily="34" charset="0"/>
                <a:cs typeface="Calibri" panose="020F0502020204030204" pitchFamily="34" charset="0"/>
              </a:rPr>
              <a:t>Il dispositivo medico spesso viene introdotto bypassando i livelli autorizzativi (comodato d’uso gratuito, prova/visione….</a:t>
            </a:r>
          </a:p>
          <a:p>
            <a:pPr algn="just" defTabSz="912091" eaLnBrk="0" hangingPunct="0">
              <a:lnSpc>
                <a:spcPct val="90000"/>
              </a:lnSpc>
              <a:defRPr/>
            </a:pPr>
            <a:endParaRPr lang="it-IT" dirty="0">
              <a:latin typeface="Calibri" panose="020F0502020204030204" pitchFamily="34" charset="0"/>
              <a:ea typeface="Calibri" panose="020F0502020204030204" pitchFamily="34" charset="0"/>
              <a:cs typeface="Calibri" panose="020F0502020204030204" pitchFamily="34" charset="0"/>
            </a:endParaRPr>
          </a:p>
          <a:p>
            <a:pPr algn="just" defTabSz="912091" eaLnBrk="0" hangingPunct="0">
              <a:lnSpc>
                <a:spcPct val="90000"/>
              </a:lnSpc>
              <a:defRPr/>
            </a:pPr>
            <a:r>
              <a:rPr lang="it-IT" sz="2800" b="1" dirty="0">
                <a:solidFill>
                  <a:srgbClr val="C00000"/>
                </a:solidFill>
                <a:latin typeface="Calibri" panose="020F0502020204030204" pitchFamily="34" charset="0"/>
                <a:ea typeface="Calibri" panose="020F0502020204030204" pitchFamily="34" charset="0"/>
                <a:cs typeface="Calibri" panose="020F0502020204030204" pitchFamily="34" charset="0"/>
              </a:rPr>
              <a:t>I dispositivi, </a:t>
            </a:r>
            <a:r>
              <a:rPr lang="it-IT" sz="2800" b="1" dirty="0" err="1">
                <a:solidFill>
                  <a:srgbClr val="C00000"/>
                </a:solidFill>
                <a:latin typeface="Calibri" panose="020F0502020204030204" pitchFamily="34" charset="0"/>
                <a:ea typeface="Calibri" panose="020F0502020204030204" pitchFamily="34" charset="0"/>
                <a:cs typeface="Calibri" panose="020F0502020204030204" pitchFamily="34" charset="0"/>
              </a:rPr>
              <a:t>ancorchè</a:t>
            </a:r>
            <a:r>
              <a:rPr lang="it-IT" sz="2800" b="1" dirty="0">
                <a:solidFill>
                  <a:srgbClr val="C00000"/>
                </a:solidFill>
                <a:latin typeface="Calibri" panose="020F0502020204030204" pitchFamily="34" charset="0"/>
                <a:ea typeface="Calibri" panose="020F0502020204030204" pitchFamily="34" charset="0"/>
                <a:cs typeface="Calibri" panose="020F0502020204030204" pitchFamily="34" charset="0"/>
              </a:rPr>
              <a:t> aggiudicati, sono sempre appropriati ?</a:t>
            </a:r>
          </a:p>
          <a:p>
            <a:pPr algn="just" defTabSz="912091" eaLnBrk="0" hangingPunct="0">
              <a:lnSpc>
                <a:spcPct val="90000"/>
              </a:lnSpc>
              <a:defRPr/>
            </a:pPr>
            <a:r>
              <a:rPr lang="it-IT" sz="2800" b="1" dirty="0">
                <a:solidFill>
                  <a:srgbClr val="C00000"/>
                </a:solidFill>
                <a:latin typeface="Calibri" panose="020F0502020204030204" pitchFamily="34" charset="0"/>
                <a:ea typeface="Calibri" panose="020F0502020204030204" pitchFamily="34" charset="0"/>
                <a:cs typeface="Calibri" panose="020F0502020204030204" pitchFamily="34" charset="0"/>
              </a:rPr>
              <a:t>Le Direzioni strategiche quali strumenti hanno per garantire scelte basate sul valore clinico? </a:t>
            </a:r>
          </a:p>
          <a:p>
            <a:pPr algn="just" defTabSz="912091" eaLnBrk="0" hangingPunct="0">
              <a:lnSpc>
                <a:spcPct val="90000"/>
              </a:lnSpc>
              <a:defRPr/>
            </a:pPr>
            <a:r>
              <a:rPr lang="it-IT" sz="2800" b="1" dirty="0">
                <a:solidFill>
                  <a:srgbClr val="C00000"/>
                </a:solidFill>
                <a:latin typeface="Calibri" panose="020F0502020204030204" pitchFamily="34" charset="0"/>
                <a:ea typeface="Calibri" panose="020F0502020204030204" pitchFamily="34" charset="0"/>
                <a:cs typeface="Calibri" panose="020F0502020204030204" pitchFamily="34" charset="0"/>
              </a:rPr>
              <a:t>Il «driver» dell’acquisizione è clinico o commerciale?</a:t>
            </a:r>
          </a:p>
        </p:txBody>
      </p:sp>
      <p:sp>
        <p:nvSpPr>
          <p:cNvPr id="9" name="CasellaDiTesto 8">
            <a:extLst>
              <a:ext uri="{FF2B5EF4-FFF2-40B4-BE49-F238E27FC236}">
                <a16:creationId xmlns:a16="http://schemas.microsoft.com/office/drawing/2014/main" id="{EEAC32C6-8DAC-40AE-8159-B7334A7793D3}"/>
              </a:ext>
            </a:extLst>
          </p:cNvPr>
          <p:cNvSpPr txBox="1"/>
          <p:nvPr/>
        </p:nvSpPr>
        <p:spPr>
          <a:xfrm>
            <a:off x="491219" y="202459"/>
            <a:ext cx="8917715" cy="646331"/>
          </a:xfrm>
          <a:prstGeom prst="rect">
            <a:avLst/>
          </a:prstGeom>
          <a:noFill/>
        </p:spPr>
        <p:txBody>
          <a:bodyPr wrap="square" rtlCol="0">
            <a:spAutoFit/>
          </a:bodyPr>
          <a:lstStyle/>
          <a:p>
            <a:pPr algn="ctr"/>
            <a:r>
              <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La Governance </a:t>
            </a:r>
            <a:r>
              <a:rPr lang="en-US" sz="3600" b="1" dirty="0" err="1">
                <a:solidFill>
                  <a:srgbClr val="4F81BD"/>
                </a:solidFill>
                <a:latin typeface="Calibri" panose="020F0502020204030204" pitchFamily="34" charset="0"/>
                <a:ea typeface="MS Gothic" panose="020B0609070205080204" pitchFamily="49" charset="-128"/>
                <a:cs typeface="Times New Roman" panose="02020603050405020304" pitchFamily="18" charset="0"/>
              </a:rPr>
              <a:t>aziendale</a:t>
            </a:r>
            <a:r>
              <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 </a:t>
            </a:r>
            <a:r>
              <a:rPr lang="en-US" sz="3600" b="1" dirty="0" err="1">
                <a:solidFill>
                  <a:srgbClr val="4F81BD"/>
                </a:solidFill>
                <a:latin typeface="Calibri" panose="020F0502020204030204" pitchFamily="34" charset="0"/>
                <a:ea typeface="MS Gothic" panose="020B0609070205080204" pitchFamily="49" charset="-128"/>
                <a:cs typeface="Times New Roman" panose="02020603050405020304" pitchFamily="18" charset="0"/>
              </a:rPr>
              <a:t>cosa</a:t>
            </a:r>
            <a:r>
              <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 </a:t>
            </a:r>
            <a:r>
              <a:rPr lang="en-US" sz="3600" b="1" dirty="0" err="1">
                <a:solidFill>
                  <a:srgbClr val="4F81BD"/>
                </a:solidFill>
                <a:latin typeface="Calibri" panose="020F0502020204030204" pitchFamily="34" charset="0"/>
                <a:ea typeface="MS Gothic" panose="020B0609070205080204" pitchFamily="49" charset="-128"/>
                <a:cs typeface="Times New Roman" panose="02020603050405020304" pitchFamily="18" charset="0"/>
              </a:rPr>
              <a:t>succede</a:t>
            </a:r>
            <a:r>
              <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rPr>
              <a:t> </a:t>
            </a:r>
            <a:r>
              <a:rPr lang="en-US" sz="3600" b="1" dirty="0" err="1">
                <a:solidFill>
                  <a:srgbClr val="4F81BD"/>
                </a:solidFill>
                <a:latin typeface="Calibri" panose="020F0502020204030204" pitchFamily="34" charset="0"/>
                <a:ea typeface="MS Gothic" panose="020B0609070205080204" pitchFamily="49" charset="-128"/>
                <a:cs typeface="Times New Roman" panose="02020603050405020304" pitchFamily="18" charset="0"/>
              </a:rPr>
              <a:t>oggi</a:t>
            </a:r>
            <a:endParaRPr lang="en-US" sz="3600" b="1" dirty="0">
              <a:solidFill>
                <a:srgbClr val="4F81BD"/>
              </a:solidFill>
              <a:latin typeface="Calibri" panose="020F0502020204030204" pitchFamily="34"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25377894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835D8581-FEBA-4CB0-ABED-E4DF6727444B}"/>
              </a:ext>
            </a:extLst>
          </p:cNvPr>
          <p:cNvSpPr txBox="1"/>
          <p:nvPr/>
        </p:nvSpPr>
        <p:spPr>
          <a:xfrm>
            <a:off x="-467841" y="827981"/>
            <a:ext cx="7992888" cy="5016758"/>
          </a:xfrm>
          <a:prstGeom prst="rect">
            <a:avLst/>
          </a:prstGeom>
          <a:noFill/>
        </p:spPr>
        <p:txBody>
          <a:bodyPr wrap="square" rtlCol="0">
            <a:spAutoFit/>
          </a:bodyPr>
          <a:lstStyle/>
          <a:p>
            <a:pPr algn="ctr"/>
            <a:r>
              <a:rPr lang="it-IT" sz="4000" b="1" dirty="0">
                <a:solidFill>
                  <a:srgbClr val="0070C0"/>
                </a:solidFill>
              </a:rPr>
              <a:t>4 incontri in </a:t>
            </a:r>
            <a:r>
              <a:rPr lang="it-IT" sz="4000" b="1" dirty="0" err="1">
                <a:solidFill>
                  <a:srgbClr val="0070C0"/>
                </a:solidFill>
              </a:rPr>
              <a:t>videocall</a:t>
            </a:r>
            <a:endParaRPr lang="it-IT" sz="4000" b="1" dirty="0">
              <a:solidFill>
                <a:srgbClr val="0070C0"/>
              </a:solidFill>
            </a:endParaRPr>
          </a:p>
          <a:p>
            <a:pPr algn="ctr"/>
            <a:r>
              <a:rPr lang="it-IT" sz="4000" b="1" dirty="0">
                <a:solidFill>
                  <a:srgbClr val="0070C0"/>
                </a:solidFill>
              </a:rPr>
              <a:t>23/10 – 31/10 – 1/12 – 11/12</a:t>
            </a:r>
          </a:p>
          <a:p>
            <a:pPr algn="ctr"/>
            <a:endParaRPr lang="it-IT" sz="4000" b="1" dirty="0">
              <a:solidFill>
                <a:srgbClr val="0070C0"/>
              </a:solidFill>
            </a:endParaRPr>
          </a:p>
          <a:p>
            <a:pPr algn="ctr"/>
            <a:r>
              <a:rPr lang="it-IT" sz="4000" b="1" dirty="0">
                <a:solidFill>
                  <a:srgbClr val="0070C0"/>
                </a:solidFill>
              </a:rPr>
              <a:t>Condivisione di una bozza di Regolamento + allegati</a:t>
            </a:r>
          </a:p>
          <a:p>
            <a:pPr algn="ctr"/>
            <a:endParaRPr lang="it-IT" sz="4000" b="1" dirty="0">
              <a:solidFill>
                <a:srgbClr val="0070C0"/>
              </a:solidFill>
            </a:endParaRPr>
          </a:p>
          <a:p>
            <a:pPr algn="ctr"/>
            <a:r>
              <a:rPr lang="it-IT" sz="4000" b="1" dirty="0">
                <a:solidFill>
                  <a:srgbClr val="0070C0"/>
                </a:solidFill>
              </a:rPr>
              <a:t>29/12</a:t>
            </a:r>
          </a:p>
          <a:p>
            <a:pPr algn="ctr"/>
            <a:r>
              <a:rPr lang="it-IT" sz="4000" b="1" dirty="0">
                <a:solidFill>
                  <a:srgbClr val="0070C0"/>
                </a:solidFill>
              </a:rPr>
              <a:t>Presentazione alla Direzione</a:t>
            </a:r>
          </a:p>
        </p:txBody>
      </p:sp>
      <p:pic>
        <p:nvPicPr>
          <p:cNvPr id="1026" name="Picture 2" descr="Principi e tecniche del gruppo di lavoro (II parte) - Z3xmi">
            <a:extLst>
              <a:ext uri="{FF2B5EF4-FFF2-40B4-BE49-F238E27FC236}">
                <a16:creationId xmlns:a16="http://schemas.microsoft.com/office/drawing/2014/main" id="{205191E8-52DC-4EF8-9E36-190A61DE5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3032" y="1217450"/>
            <a:ext cx="4129871" cy="2808312"/>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15">
            <a:extLst>
              <a:ext uri="{FF2B5EF4-FFF2-40B4-BE49-F238E27FC236}">
                <a16:creationId xmlns:a16="http://schemas.microsoft.com/office/drawing/2014/main" id="{87E768D6-B1ED-4B40-8D1D-5C1D27F020D8}"/>
              </a:ext>
            </a:extLst>
          </p:cNvPr>
          <p:cNvSpPr txBox="1">
            <a:spLocks noChangeArrowheads="1"/>
          </p:cNvSpPr>
          <p:nvPr/>
        </p:nvSpPr>
        <p:spPr bwMode="auto">
          <a:xfrm>
            <a:off x="6856958" y="3998080"/>
            <a:ext cx="5074034" cy="1197251"/>
          </a:xfrm>
          <a:prstGeom prst="rect">
            <a:avLst/>
          </a:prstGeom>
          <a:noFill/>
          <a:ln w="9525">
            <a:noFill/>
            <a:miter lim="800000"/>
            <a:headEnd/>
            <a:tailEnd/>
          </a:ln>
        </p:spPr>
        <p:txBody>
          <a:bodyPr wrap="square">
            <a:spAutoFit/>
          </a:bodyPr>
          <a:lstStyle/>
          <a:p>
            <a:pPr algn="ctr"/>
            <a:r>
              <a:rPr lang="it-IT" sz="1795" b="1" dirty="0">
                <a:latin typeface="Calibri" pitchFamily="34" charset="0"/>
                <a:cs typeface="Calibri" pitchFamily="34" charset="0"/>
              </a:rPr>
              <a:t>Gruppo di lavoro:</a:t>
            </a:r>
          </a:p>
          <a:p>
            <a:pPr algn="ctr"/>
            <a:r>
              <a:rPr lang="it-IT" sz="1795" b="1" dirty="0">
                <a:latin typeface="Calibri" pitchFamily="34" charset="0"/>
                <a:cs typeface="Calibri" pitchFamily="34" charset="0"/>
              </a:rPr>
              <a:t>Francesca </a:t>
            </a:r>
            <a:r>
              <a:rPr lang="it-IT" sz="1795" b="1" dirty="0" err="1">
                <a:latin typeface="Calibri" pitchFamily="34" charset="0"/>
                <a:cs typeface="Calibri" pitchFamily="34" charset="0"/>
              </a:rPr>
              <a:t>Azzena</a:t>
            </a:r>
            <a:r>
              <a:rPr lang="it-IT" sz="1795" b="1" dirty="0">
                <a:latin typeface="Calibri" pitchFamily="34" charset="0"/>
                <a:cs typeface="Calibri" pitchFamily="34" charset="0"/>
              </a:rPr>
              <a:t>, Valentina Ceccarini,</a:t>
            </a:r>
          </a:p>
          <a:p>
            <a:pPr algn="ctr"/>
            <a:r>
              <a:rPr lang="it-IT" sz="1795" b="1" dirty="0">
                <a:latin typeface="Calibri" pitchFamily="34" charset="0"/>
                <a:cs typeface="Calibri" pitchFamily="34" charset="0"/>
              </a:rPr>
              <a:t>Stefano </a:t>
            </a:r>
            <a:r>
              <a:rPr lang="it-IT" sz="1795" b="1" dirty="0" err="1">
                <a:latin typeface="Calibri" pitchFamily="34" charset="0"/>
                <a:cs typeface="Calibri" pitchFamily="34" charset="0"/>
              </a:rPr>
              <a:t>Biggeri</a:t>
            </a:r>
            <a:r>
              <a:rPr lang="it-IT" sz="1795" b="1" dirty="0">
                <a:latin typeface="Calibri" pitchFamily="34" charset="0"/>
                <a:cs typeface="Calibri" pitchFamily="34" charset="0"/>
              </a:rPr>
              <a:t>, Stefano </a:t>
            </a:r>
            <a:r>
              <a:rPr lang="it-IT" sz="1795" b="1" dirty="0" err="1">
                <a:latin typeface="Calibri" pitchFamily="34" charset="0"/>
                <a:cs typeface="Calibri" pitchFamily="34" charset="0"/>
              </a:rPr>
              <a:t>Surlinelli</a:t>
            </a:r>
            <a:r>
              <a:rPr lang="it-IT" sz="1795" b="1" dirty="0">
                <a:latin typeface="Calibri" pitchFamily="34" charset="0"/>
                <a:cs typeface="Calibri" pitchFamily="34" charset="0"/>
              </a:rPr>
              <a:t>,</a:t>
            </a:r>
          </a:p>
          <a:p>
            <a:pPr algn="ctr"/>
            <a:r>
              <a:rPr lang="it-IT" sz="1795" b="1" dirty="0">
                <a:latin typeface="Calibri" pitchFamily="34" charset="0"/>
                <a:cs typeface="Calibri" pitchFamily="34" charset="0"/>
              </a:rPr>
              <a:t>Giuseppina Terranova</a:t>
            </a:r>
          </a:p>
        </p:txBody>
      </p:sp>
    </p:spTree>
    <p:extLst>
      <p:ext uri="{BB962C8B-B14F-4D97-AF65-F5344CB8AC3E}">
        <p14:creationId xmlns:p14="http://schemas.microsoft.com/office/powerpoint/2010/main" val="32132268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FD5FB52B-6DF3-459A-A313-2D1D26CEF61F}"/>
              </a:ext>
            </a:extLst>
          </p:cNvPr>
          <p:cNvSpPr txBox="1"/>
          <p:nvPr/>
        </p:nvSpPr>
        <p:spPr>
          <a:xfrm>
            <a:off x="900311" y="18766"/>
            <a:ext cx="10513168" cy="707886"/>
          </a:xfrm>
          <a:prstGeom prst="rect">
            <a:avLst/>
          </a:prstGeom>
          <a:noFill/>
        </p:spPr>
        <p:txBody>
          <a:bodyPr wrap="square" rtlCol="0">
            <a:spAutoFit/>
          </a:bodyPr>
          <a:lstStyle/>
          <a:p>
            <a:pPr algn="ctr"/>
            <a:r>
              <a:rPr lang="en-US" sz="40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Accountability </a:t>
            </a:r>
            <a:r>
              <a:rPr lang="en-US" sz="40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dei</a:t>
            </a:r>
            <a:r>
              <a:rPr lang="en-US" sz="40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40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clinici</a:t>
            </a:r>
            <a:r>
              <a:rPr lang="en-US" sz="40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e </a:t>
            </a:r>
            <a:r>
              <a:rPr lang="en-US" sz="40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richieste</a:t>
            </a:r>
            <a:r>
              <a:rPr lang="en-US" sz="40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motivate</a:t>
            </a:r>
          </a:p>
        </p:txBody>
      </p:sp>
      <p:sp>
        <p:nvSpPr>
          <p:cNvPr id="3" name="Segnaposto contenuto 2">
            <a:extLst>
              <a:ext uri="{FF2B5EF4-FFF2-40B4-BE49-F238E27FC236}">
                <a16:creationId xmlns:a16="http://schemas.microsoft.com/office/drawing/2014/main" id="{D5871610-D93B-4D68-AEC4-FE3951B5C292}"/>
              </a:ext>
            </a:extLst>
          </p:cNvPr>
          <p:cNvSpPr txBox="1">
            <a:spLocks/>
          </p:cNvSpPr>
          <p:nvPr/>
        </p:nvSpPr>
        <p:spPr>
          <a:xfrm>
            <a:off x="108223" y="1486601"/>
            <a:ext cx="7560840" cy="4627285"/>
          </a:xfrm>
          <a:prstGeom prst="rect">
            <a:avLst/>
          </a:prstGeom>
        </p:spPr>
        <p:txBody>
          <a:bodyPr lIns="91207" tIns="45604" rIns="91207" bIns="45604"/>
          <a:lstStyle/>
          <a:p>
            <a:pPr marL="412750" indent="-412750" algn="just" defTabSz="912091" eaLnBrk="0" hangingPunct="0">
              <a:lnSpc>
                <a:spcPct val="90000"/>
              </a:lnSpc>
              <a:buFont typeface="Arial" charset="0"/>
              <a:buChar char="•"/>
              <a:defRPr/>
            </a:pPr>
            <a:r>
              <a:rPr lang="it-IT" sz="2600" dirty="0">
                <a:latin typeface="Calibri" panose="020F0502020204030204" pitchFamily="34" charset="0"/>
                <a:ea typeface="Calibri" panose="020F0502020204030204" pitchFamily="34" charset="0"/>
                <a:cs typeface="Calibri" panose="020F0502020204030204" pitchFamily="34" charset="0"/>
              </a:rPr>
              <a:t>Efficacia clinica e beneficio incrementale rispetto al comparatore in uso</a:t>
            </a:r>
          </a:p>
          <a:p>
            <a:pPr marL="412750" indent="-412750" algn="just" defTabSz="912091" eaLnBrk="0" hangingPunct="0">
              <a:lnSpc>
                <a:spcPct val="90000"/>
              </a:lnSpc>
              <a:buFont typeface="Arial" charset="0"/>
              <a:buChar char="•"/>
              <a:defRPr/>
            </a:pPr>
            <a:r>
              <a:rPr lang="it-IT" sz="2600" dirty="0">
                <a:latin typeface="Calibri" panose="020F0502020204030204" pitchFamily="34" charset="0"/>
                <a:ea typeface="Calibri" panose="020F0502020204030204" pitchFamily="34" charset="0"/>
                <a:cs typeface="Calibri" panose="020F0502020204030204" pitchFamily="34" charset="0"/>
              </a:rPr>
              <a:t>Coerenza con gli obiettivi dipartimentali e aziendali</a:t>
            </a:r>
          </a:p>
          <a:p>
            <a:pPr marL="412750" indent="-412750" algn="just" defTabSz="912091" eaLnBrk="0" hangingPunct="0">
              <a:lnSpc>
                <a:spcPct val="90000"/>
              </a:lnSpc>
              <a:buFont typeface="Arial" charset="0"/>
              <a:buChar char="•"/>
              <a:defRPr/>
            </a:pPr>
            <a:r>
              <a:rPr lang="it-IT" sz="2600" dirty="0">
                <a:latin typeface="Calibri" panose="020F0502020204030204" pitchFamily="34" charset="0"/>
                <a:ea typeface="Calibri" panose="020F0502020204030204" pitchFamily="34" charset="0"/>
                <a:cs typeface="Calibri" panose="020F0502020204030204" pitchFamily="34" charset="0"/>
              </a:rPr>
              <a:t>Priorità e razionalità dell’investimento tecnologico</a:t>
            </a:r>
          </a:p>
          <a:p>
            <a:pPr marL="412750" indent="-412750" algn="just" defTabSz="912091" eaLnBrk="0" hangingPunct="0">
              <a:lnSpc>
                <a:spcPct val="90000"/>
              </a:lnSpc>
              <a:buFont typeface="Arial" charset="0"/>
              <a:buChar char="•"/>
              <a:defRPr/>
            </a:pPr>
            <a:r>
              <a:rPr lang="it-IT" sz="2600" dirty="0">
                <a:latin typeface="Calibri" panose="020F0502020204030204" pitchFamily="34" charset="0"/>
                <a:ea typeface="Calibri" panose="020F0502020204030204" pitchFamily="34" charset="0"/>
                <a:cs typeface="Calibri" panose="020F0502020204030204" pitchFamily="34" charset="0"/>
              </a:rPr>
              <a:t>Impatto sulla qualità e sicurezza dell’assistenza </a:t>
            </a:r>
          </a:p>
          <a:p>
            <a:pPr marL="412750" indent="-412750" algn="just" defTabSz="912091" eaLnBrk="0" hangingPunct="0">
              <a:lnSpc>
                <a:spcPct val="90000"/>
              </a:lnSpc>
              <a:buFont typeface="Arial" charset="0"/>
              <a:buChar char="•"/>
              <a:defRPr/>
            </a:pPr>
            <a:r>
              <a:rPr lang="it-IT" sz="2600" dirty="0">
                <a:latin typeface="Calibri" panose="020F0502020204030204" pitchFamily="34" charset="0"/>
                <a:ea typeface="Calibri" panose="020F0502020204030204" pitchFamily="34" charset="0"/>
                <a:cs typeface="Calibri" panose="020F0502020204030204" pitchFamily="34" charset="0"/>
              </a:rPr>
              <a:t>Modello organizzativo coerente con gli </a:t>
            </a:r>
            <a:r>
              <a:rPr lang="it-IT" sz="2600" b="1" dirty="0">
                <a:solidFill>
                  <a:srgbClr val="0070C0"/>
                </a:solidFill>
                <a:latin typeface="Calibri" panose="020F0502020204030204" pitchFamily="34" charset="0"/>
                <a:ea typeface="Calibri" panose="020F0502020204030204" pitchFamily="34" charset="0"/>
                <a:cs typeface="Calibri" panose="020F0502020204030204" pitchFamily="34" charset="0"/>
              </a:rPr>
              <a:t>appropriati volumi di attività e livelli di specializzazione </a:t>
            </a:r>
            <a:r>
              <a:rPr lang="it-IT" sz="2600" dirty="0">
                <a:latin typeface="Calibri" panose="020F0502020204030204" pitchFamily="34" charset="0"/>
                <a:ea typeface="Calibri" panose="020F0502020204030204" pitchFamily="34" charset="0"/>
                <a:cs typeface="Calibri" panose="020F0502020204030204" pitchFamily="34" charset="0"/>
              </a:rPr>
              <a:t>necessari nei vari nodi della rete clinica (aziendale, di Area vasta)</a:t>
            </a:r>
          </a:p>
          <a:p>
            <a:pPr marL="412750" indent="-412750" algn="just" defTabSz="912091" eaLnBrk="0" hangingPunct="0">
              <a:lnSpc>
                <a:spcPct val="90000"/>
              </a:lnSpc>
              <a:buFont typeface="Arial" charset="0"/>
              <a:buChar char="•"/>
              <a:defRPr/>
            </a:pPr>
            <a:r>
              <a:rPr lang="it-IT" sz="2600" dirty="0">
                <a:latin typeface="Calibri" panose="020F0502020204030204" pitchFamily="34" charset="0"/>
                <a:ea typeface="Calibri" panose="020F0502020204030204" pitchFamily="34" charset="0"/>
                <a:cs typeface="Calibri" panose="020F0502020204030204" pitchFamily="34" charset="0"/>
              </a:rPr>
              <a:t>Introduzione governata della nuova tecnologia (pilota, studio osservazionale prospettico…)</a:t>
            </a:r>
          </a:p>
          <a:p>
            <a:pPr marL="412750" indent="-412750" algn="just" defTabSz="912091" eaLnBrk="0" hangingPunct="0">
              <a:lnSpc>
                <a:spcPct val="90000"/>
              </a:lnSpc>
              <a:buFont typeface="Arial" charset="0"/>
              <a:buChar char="•"/>
              <a:defRPr/>
            </a:pPr>
            <a:r>
              <a:rPr lang="it-IT" sz="2600" dirty="0">
                <a:latin typeface="Calibri" panose="020F0502020204030204" pitchFamily="34" charset="0"/>
                <a:ea typeface="Calibri" panose="020F0502020204030204" pitchFamily="34" charset="0"/>
                <a:cs typeface="Calibri" panose="020F0502020204030204" pitchFamily="34" charset="0"/>
              </a:rPr>
              <a:t>Equità dell’offerta in tutte le articolazioni aziendali dove è possibile garantire appropriatezza, qualità e sicurezza </a:t>
            </a:r>
          </a:p>
        </p:txBody>
      </p:sp>
      <p:sp>
        <p:nvSpPr>
          <p:cNvPr id="4" name="CasellaDiTesto 3">
            <a:extLst>
              <a:ext uri="{FF2B5EF4-FFF2-40B4-BE49-F238E27FC236}">
                <a16:creationId xmlns:a16="http://schemas.microsoft.com/office/drawing/2014/main" id="{473B28D6-396A-417E-A92B-C531EC129E71}"/>
              </a:ext>
            </a:extLst>
          </p:cNvPr>
          <p:cNvSpPr txBox="1"/>
          <p:nvPr/>
        </p:nvSpPr>
        <p:spPr>
          <a:xfrm>
            <a:off x="286380" y="726652"/>
            <a:ext cx="7847664" cy="523220"/>
          </a:xfrm>
          <a:prstGeom prst="rect">
            <a:avLst/>
          </a:prstGeom>
          <a:noFill/>
        </p:spPr>
        <p:txBody>
          <a:bodyPr wrap="square" rtlCol="0">
            <a:spAutoFit/>
          </a:bodyPr>
          <a:lstStyle/>
          <a:p>
            <a:r>
              <a:rPr lang="it-IT" sz="2800" b="1" dirty="0">
                <a:solidFill>
                  <a:srgbClr val="C00000"/>
                </a:solidFill>
                <a:latin typeface="Calibri" panose="020F0502020204030204" pitchFamily="34" charset="0"/>
                <a:ea typeface="Calibri" panose="020F0502020204030204" pitchFamily="34" charset="0"/>
                <a:cs typeface="Calibri" panose="020F0502020204030204" pitchFamily="34" charset="0"/>
              </a:rPr>
              <a:t>Il «driver» dell’acquisizione è clinico e organizzativo</a:t>
            </a:r>
            <a:endParaRPr lang="it-IT" sz="2800" dirty="0"/>
          </a:p>
        </p:txBody>
      </p:sp>
      <p:sp>
        <p:nvSpPr>
          <p:cNvPr id="5" name="CasellaDiTesto 4">
            <a:extLst>
              <a:ext uri="{FF2B5EF4-FFF2-40B4-BE49-F238E27FC236}">
                <a16:creationId xmlns:a16="http://schemas.microsoft.com/office/drawing/2014/main" id="{7A245DDE-5EE8-4179-A098-80884C2E98ED}"/>
              </a:ext>
            </a:extLst>
          </p:cNvPr>
          <p:cNvSpPr txBox="1"/>
          <p:nvPr/>
        </p:nvSpPr>
        <p:spPr>
          <a:xfrm>
            <a:off x="7770608" y="4716413"/>
            <a:ext cx="4364452" cy="1846659"/>
          </a:xfrm>
          <a:prstGeom prst="rect">
            <a:avLst/>
          </a:prstGeom>
          <a:noFill/>
        </p:spPr>
        <p:txBody>
          <a:bodyPr wrap="square" rtlCol="0">
            <a:spAutoFit/>
          </a:bodyPr>
          <a:lstStyle/>
          <a:p>
            <a:r>
              <a:rPr lang="it-IT" sz="2400" b="1" dirty="0">
                <a:solidFill>
                  <a:srgbClr val="C00000"/>
                </a:solidFill>
                <a:latin typeface="Calibri" panose="020F0502020204030204" pitchFamily="34" charset="0"/>
                <a:ea typeface="Calibri" panose="020F0502020204030204" pitchFamily="34" charset="0"/>
                <a:cs typeface="Calibri" panose="020F0502020204030204" pitchFamily="34" charset="0"/>
              </a:rPr>
              <a:t>L’autorizzazione della Direzione Sanitaria precede sempre l’avvio di nuove attività e l’introduzione di nuovi DM !</a:t>
            </a:r>
          </a:p>
          <a:p>
            <a:endParaRPr lang="it-IT" dirty="0"/>
          </a:p>
        </p:txBody>
      </p:sp>
      <p:pic>
        <p:nvPicPr>
          <p:cNvPr id="1026" name="Picture 2" descr="GDPR e accountability: ecco come costruire e governare un sistema di  gestione privacy - Cyber Security 360">
            <a:extLst>
              <a:ext uri="{FF2B5EF4-FFF2-40B4-BE49-F238E27FC236}">
                <a16:creationId xmlns:a16="http://schemas.microsoft.com/office/drawing/2014/main" id="{E4555B75-BC08-4069-B82F-E845D9FB01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9102" y="1705204"/>
            <a:ext cx="3804931" cy="27180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7509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operazione Internazionale – Riunione Commissione Anci – www.anci.it">
            <a:extLst>
              <a:ext uri="{FF2B5EF4-FFF2-40B4-BE49-F238E27FC236}">
                <a16:creationId xmlns:a16="http://schemas.microsoft.com/office/drawing/2014/main" id="{9872996D-E376-4F50-B054-8C3F651D9C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240" y="1185694"/>
            <a:ext cx="4451648" cy="2420584"/>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2E0059B3-EB65-404B-BCC2-6B64C175FEFA}"/>
              </a:ext>
            </a:extLst>
          </p:cNvPr>
          <p:cNvSpPr txBox="1"/>
          <p:nvPr/>
        </p:nvSpPr>
        <p:spPr>
          <a:xfrm>
            <a:off x="684287" y="28893"/>
            <a:ext cx="11149030" cy="1077218"/>
          </a:xfrm>
          <a:prstGeom prst="rect">
            <a:avLst/>
          </a:prstGeom>
          <a:noFill/>
        </p:spPr>
        <p:txBody>
          <a:bodyPr wrap="square" rtlCol="0">
            <a:spAutoFit/>
          </a:bodyPr>
          <a:lstStyle/>
          <a:p>
            <a:pPr algn="ct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Decisione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della</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Direzione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strategica</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la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Commissione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Aziendale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per la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valutazione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delle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tecnologie</a:t>
            </a:r>
            <a:endPar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endParaRPr>
          </a:p>
        </p:txBody>
      </p:sp>
      <p:sp>
        <p:nvSpPr>
          <p:cNvPr id="2" name="CasellaDiTesto 1">
            <a:extLst>
              <a:ext uri="{FF2B5EF4-FFF2-40B4-BE49-F238E27FC236}">
                <a16:creationId xmlns:a16="http://schemas.microsoft.com/office/drawing/2014/main" id="{B0BC6A9F-EF3A-45C1-AA66-B19A602C74C0}"/>
              </a:ext>
            </a:extLst>
          </p:cNvPr>
          <p:cNvSpPr txBox="1"/>
          <p:nvPr/>
        </p:nvSpPr>
        <p:spPr>
          <a:xfrm>
            <a:off x="108223" y="1185694"/>
            <a:ext cx="6624736" cy="5909310"/>
          </a:xfrm>
          <a:prstGeom prst="rect">
            <a:avLst/>
          </a:prstGeom>
          <a:noFill/>
        </p:spPr>
        <p:txBody>
          <a:bodyPr wrap="square" rtlCol="0">
            <a:spAutoFit/>
          </a:bodyPr>
          <a:lstStyle/>
          <a:p>
            <a:pPr lvl="0"/>
            <a:r>
              <a:rPr lang="it-IT" b="1" dirty="0">
                <a:solidFill>
                  <a:srgbClr val="0070C0"/>
                </a:solidFill>
              </a:rPr>
              <a:t>Direttore dello Staff della Direzione</a:t>
            </a:r>
            <a:endParaRPr lang="it-IT" dirty="0">
              <a:solidFill>
                <a:srgbClr val="0070C0"/>
              </a:solidFill>
            </a:endParaRPr>
          </a:p>
          <a:p>
            <a:pPr lvl="0"/>
            <a:r>
              <a:rPr lang="it-IT" dirty="0"/>
              <a:t>Direttore Area per l’innovazione organizzativa</a:t>
            </a:r>
          </a:p>
          <a:p>
            <a:pPr lvl="0"/>
            <a:r>
              <a:rPr lang="it-IT" dirty="0"/>
              <a:t>Direttore UOC Miglioramento dei Processi</a:t>
            </a:r>
          </a:p>
          <a:p>
            <a:pPr lvl="0"/>
            <a:r>
              <a:rPr lang="it-IT" b="1" dirty="0">
                <a:solidFill>
                  <a:srgbClr val="0070C0"/>
                </a:solidFill>
              </a:rPr>
              <a:t>Direttore UOC Modelli innovativi per la continuità delle cure</a:t>
            </a:r>
            <a:endParaRPr lang="it-IT" dirty="0">
              <a:solidFill>
                <a:srgbClr val="0070C0"/>
              </a:solidFill>
            </a:endParaRPr>
          </a:p>
          <a:p>
            <a:pPr lvl="0"/>
            <a:r>
              <a:rPr lang="it-IT" b="1" dirty="0">
                <a:solidFill>
                  <a:srgbClr val="0070C0"/>
                </a:solidFill>
              </a:rPr>
              <a:t>Direttore Area Supporto ai servizi sanitari e al cittadino</a:t>
            </a:r>
            <a:endParaRPr lang="it-IT" dirty="0">
              <a:solidFill>
                <a:srgbClr val="0070C0"/>
              </a:solidFill>
            </a:endParaRPr>
          </a:p>
          <a:p>
            <a:pPr lvl="0"/>
            <a:r>
              <a:rPr lang="it-IT" b="1" dirty="0">
                <a:solidFill>
                  <a:srgbClr val="0070C0"/>
                </a:solidFill>
              </a:rPr>
              <a:t>Direttore UOC Supporto Amministrativo al Dipartimento del Farmaco</a:t>
            </a:r>
            <a:endParaRPr lang="it-IT" dirty="0">
              <a:solidFill>
                <a:srgbClr val="0070C0"/>
              </a:solidFill>
            </a:endParaRPr>
          </a:p>
          <a:p>
            <a:pPr lvl="0"/>
            <a:r>
              <a:rPr lang="it-IT" b="1" dirty="0">
                <a:solidFill>
                  <a:srgbClr val="0070C0"/>
                </a:solidFill>
              </a:rPr>
              <a:t>Direttore del Dipartimento del Farmaco</a:t>
            </a:r>
            <a:endParaRPr lang="it-IT" dirty="0">
              <a:solidFill>
                <a:srgbClr val="0070C0"/>
              </a:solidFill>
            </a:endParaRPr>
          </a:p>
          <a:p>
            <a:pPr lvl="0"/>
            <a:r>
              <a:rPr lang="it-IT" b="1" dirty="0">
                <a:solidFill>
                  <a:srgbClr val="0070C0"/>
                </a:solidFill>
              </a:rPr>
              <a:t>Direttore UOC Governo Appropriatezza Farmaceutica</a:t>
            </a:r>
            <a:endParaRPr lang="it-IT" dirty="0">
              <a:solidFill>
                <a:srgbClr val="0070C0"/>
              </a:solidFill>
            </a:endParaRPr>
          </a:p>
          <a:p>
            <a:pPr lvl="0"/>
            <a:r>
              <a:rPr lang="it-IT" dirty="0"/>
              <a:t>Direttore Dipartimento economico</a:t>
            </a:r>
          </a:p>
          <a:p>
            <a:pPr lvl="0"/>
            <a:r>
              <a:rPr lang="it-IT" dirty="0"/>
              <a:t>Direttore Dipartimento Tecnico e Patrimonio</a:t>
            </a:r>
          </a:p>
          <a:p>
            <a:pPr lvl="0"/>
            <a:r>
              <a:rPr lang="it-IT" dirty="0"/>
              <a:t>Direttore Dipartimento Servizi Generali</a:t>
            </a:r>
          </a:p>
          <a:p>
            <a:pPr lvl="0"/>
            <a:r>
              <a:rPr lang="it-IT" dirty="0"/>
              <a:t>Direttore Dipartimento delle Diagnostiche</a:t>
            </a:r>
          </a:p>
          <a:p>
            <a:pPr lvl="0"/>
            <a:r>
              <a:rPr lang="it-IT" b="1" dirty="0">
                <a:solidFill>
                  <a:srgbClr val="0070C0"/>
                </a:solidFill>
              </a:rPr>
              <a:t>Referente HTA Aziendale</a:t>
            </a:r>
            <a:endParaRPr lang="it-IT" dirty="0">
              <a:solidFill>
                <a:srgbClr val="0070C0"/>
              </a:solidFill>
            </a:endParaRPr>
          </a:p>
          <a:p>
            <a:pPr lvl="0"/>
            <a:r>
              <a:rPr lang="it-IT" b="1" dirty="0">
                <a:solidFill>
                  <a:srgbClr val="0070C0"/>
                </a:solidFill>
              </a:rPr>
              <a:t>Responsabile Protezione Dati</a:t>
            </a:r>
            <a:endParaRPr lang="it-IT" dirty="0">
              <a:solidFill>
                <a:srgbClr val="0070C0"/>
              </a:solidFill>
            </a:endParaRPr>
          </a:p>
          <a:p>
            <a:pPr lvl="0"/>
            <a:r>
              <a:rPr lang="it-IT" dirty="0"/>
              <a:t>Responsabili ingegneria clinica e Tecnologie Sanitarie di ESTAR. </a:t>
            </a:r>
            <a:r>
              <a:rPr lang="it-IT" b="1" u="sng" dirty="0"/>
              <a:t>Occorre condividere un percorso di coinvolgimento di eventuali ulteriori competenze non presenti in Azienda.</a:t>
            </a:r>
            <a:endParaRPr lang="it-IT" dirty="0"/>
          </a:p>
          <a:p>
            <a:pPr lvl="0"/>
            <a:r>
              <a:rPr lang="it-IT" b="1" dirty="0">
                <a:solidFill>
                  <a:srgbClr val="0070C0"/>
                </a:solidFill>
              </a:rPr>
              <a:t>Direttore UOC Tecnologie</a:t>
            </a:r>
            <a:endParaRPr lang="it-IT" dirty="0">
              <a:solidFill>
                <a:srgbClr val="0070C0"/>
              </a:solidFill>
            </a:endParaRPr>
          </a:p>
          <a:p>
            <a:pPr lvl="0"/>
            <a:r>
              <a:rPr lang="it-IT" b="1" dirty="0">
                <a:solidFill>
                  <a:srgbClr val="0070C0"/>
                </a:solidFill>
              </a:rPr>
              <a:t>Responsabile Area Programmazione e controllo</a:t>
            </a:r>
            <a:endParaRPr lang="it-IT" dirty="0">
              <a:solidFill>
                <a:srgbClr val="0070C0"/>
              </a:solidFill>
            </a:endParaRPr>
          </a:p>
          <a:p>
            <a:endParaRPr lang="it-IT" dirty="0"/>
          </a:p>
        </p:txBody>
      </p:sp>
      <p:sp>
        <p:nvSpPr>
          <p:cNvPr id="4" name="CasellaDiTesto 3">
            <a:extLst>
              <a:ext uri="{FF2B5EF4-FFF2-40B4-BE49-F238E27FC236}">
                <a16:creationId xmlns:a16="http://schemas.microsoft.com/office/drawing/2014/main" id="{A6BCD361-1149-4C1C-AD11-7547ABADA11C}"/>
              </a:ext>
            </a:extLst>
          </p:cNvPr>
          <p:cNvSpPr txBox="1"/>
          <p:nvPr/>
        </p:nvSpPr>
        <p:spPr>
          <a:xfrm>
            <a:off x="6516935" y="4140349"/>
            <a:ext cx="5472608" cy="2862322"/>
          </a:xfrm>
          <a:prstGeom prst="rect">
            <a:avLst/>
          </a:prstGeom>
          <a:noFill/>
        </p:spPr>
        <p:txBody>
          <a:bodyPr wrap="square" rtlCol="0">
            <a:spAutoFit/>
          </a:bodyPr>
          <a:lstStyle/>
          <a:p>
            <a:pPr lvl="0"/>
            <a:r>
              <a:rPr lang="it-IT" b="1" dirty="0">
                <a:solidFill>
                  <a:srgbClr val="0070C0"/>
                </a:solidFill>
              </a:rPr>
              <a:t>Direttore UOC Programmazione e coordinamento della produzione e gestione operativa</a:t>
            </a:r>
            <a:endParaRPr lang="it-IT" dirty="0">
              <a:solidFill>
                <a:srgbClr val="0070C0"/>
              </a:solidFill>
            </a:endParaRPr>
          </a:p>
          <a:p>
            <a:pPr lvl="0"/>
            <a:r>
              <a:rPr lang="it-IT" b="1" dirty="0">
                <a:solidFill>
                  <a:srgbClr val="0070C0"/>
                </a:solidFill>
              </a:rPr>
              <a:t>Direttore UOC Programmazione aziendale e Politiche Sanitarie</a:t>
            </a:r>
            <a:endParaRPr lang="it-IT" dirty="0">
              <a:solidFill>
                <a:srgbClr val="0070C0"/>
              </a:solidFill>
            </a:endParaRPr>
          </a:p>
          <a:p>
            <a:pPr lvl="0"/>
            <a:r>
              <a:rPr lang="it-IT" b="1" dirty="0">
                <a:solidFill>
                  <a:srgbClr val="0070C0"/>
                </a:solidFill>
              </a:rPr>
              <a:t>Direttore UOC Governo della domanda ambulatoriale e diagnostica</a:t>
            </a:r>
            <a:endParaRPr lang="it-IT" dirty="0">
              <a:solidFill>
                <a:srgbClr val="0070C0"/>
              </a:solidFill>
            </a:endParaRPr>
          </a:p>
          <a:p>
            <a:pPr lvl="0"/>
            <a:r>
              <a:rPr lang="it-IT" b="1" dirty="0">
                <a:solidFill>
                  <a:srgbClr val="0070C0"/>
                </a:solidFill>
              </a:rPr>
              <a:t>Direttore Area Governo clinico, Qualità e Sicurezza.</a:t>
            </a:r>
            <a:endParaRPr lang="it-IT" dirty="0">
              <a:solidFill>
                <a:srgbClr val="0070C0"/>
              </a:solidFill>
            </a:endParaRPr>
          </a:p>
          <a:p>
            <a:pPr lvl="0"/>
            <a:r>
              <a:rPr lang="it-IT" dirty="0"/>
              <a:t>Clinico Referente per la tecnologia richiesta e oggetto di valutazione.</a:t>
            </a:r>
          </a:p>
          <a:p>
            <a:endParaRPr lang="it-IT" dirty="0"/>
          </a:p>
        </p:txBody>
      </p:sp>
    </p:spTree>
    <p:extLst>
      <p:ext uri="{BB962C8B-B14F-4D97-AF65-F5344CB8AC3E}">
        <p14:creationId xmlns:p14="http://schemas.microsoft.com/office/powerpoint/2010/main" val="3571697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Immagini di Link logo - Download gratuiti su Freepik">
            <a:extLst>
              <a:ext uri="{FF2B5EF4-FFF2-40B4-BE49-F238E27FC236}">
                <a16:creationId xmlns:a16="http://schemas.microsoft.com/office/drawing/2014/main" id="{50538E7E-FEBB-494D-9CB0-D66F7B8C7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8590">
            <a:off x="5229783" y="1447057"/>
            <a:ext cx="3175152" cy="317515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Governo Clinico e benessere organizzativo">
            <a:extLst>
              <a:ext uri="{FF2B5EF4-FFF2-40B4-BE49-F238E27FC236}">
                <a16:creationId xmlns:a16="http://schemas.microsoft.com/office/drawing/2014/main" id="{789FC274-2575-4FED-AAD5-F3A3FCA8A2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915" y="3348261"/>
            <a:ext cx="4786661" cy="31751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51A93E8A-602B-4DC4-A57B-BAB0B143FDFE}"/>
              </a:ext>
            </a:extLst>
          </p:cNvPr>
          <p:cNvSpPr/>
          <p:nvPr/>
        </p:nvSpPr>
        <p:spPr>
          <a:xfrm>
            <a:off x="108223" y="1957415"/>
            <a:ext cx="5731342" cy="1077218"/>
          </a:xfrm>
          <a:prstGeom prst="rect">
            <a:avLst/>
          </a:prstGeom>
        </p:spPr>
        <p:txBody>
          <a:bodyPr wrap="square">
            <a:spAutoFit/>
          </a:bodyPr>
          <a:lstStyle/>
          <a:p>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Commissione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Aziendale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per la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valutazione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delle</a:t>
            </a:r>
            <a:r>
              <a:rPr lang="en-US" sz="32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2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tecnologie</a:t>
            </a:r>
            <a:endParaRPr lang="it-IT" sz="3200" dirty="0"/>
          </a:p>
        </p:txBody>
      </p:sp>
      <p:pic>
        <p:nvPicPr>
          <p:cNvPr id="2056" name="Picture 8" descr="LA DIREZIONE STRATEGICA | ASST Cremona">
            <a:extLst>
              <a:ext uri="{FF2B5EF4-FFF2-40B4-BE49-F238E27FC236}">
                <a16:creationId xmlns:a16="http://schemas.microsoft.com/office/drawing/2014/main" id="{B87542CE-4A35-4F0C-AF02-385857DBD2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4086" y="395933"/>
            <a:ext cx="2448272" cy="2448272"/>
          </a:xfrm>
          <a:prstGeom prst="rect">
            <a:avLst/>
          </a:prstGeom>
          <a:noFill/>
          <a:extLst>
            <a:ext uri="{909E8E84-426E-40DD-AFC4-6F175D3DCCD1}">
              <a14:hiddenFill xmlns:a14="http://schemas.microsoft.com/office/drawing/2010/main">
                <a:solidFill>
                  <a:srgbClr val="FFFFFF"/>
                </a:solidFill>
              </a14:hiddenFill>
            </a:ext>
          </a:extLst>
        </p:spPr>
      </p:pic>
      <p:sp>
        <p:nvSpPr>
          <p:cNvPr id="7" name="Rettangolo 6">
            <a:extLst>
              <a:ext uri="{FF2B5EF4-FFF2-40B4-BE49-F238E27FC236}">
                <a16:creationId xmlns:a16="http://schemas.microsoft.com/office/drawing/2014/main" id="{544199FB-0B60-4EE9-9ED2-888A662FF842}"/>
              </a:ext>
            </a:extLst>
          </p:cNvPr>
          <p:cNvSpPr/>
          <p:nvPr/>
        </p:nvSpPr>
        <p:spPr>
          <a:xfrm>
            <a:off x="6516935" y="328233"/>
            <a:ext cx="2769727" cy="1077218"/>
          </a:xfrm>
          <a:prstGeom prst="rect">
            <a:avLst/>
          </a:prstGeom>
        </p:spPr>
        <p:txBody>
          <a:bodyPr wrap="square">
            <a:spAutoFit/>
          </a:bodyPr>
          <a:lstStyle/>
          <a:p>
            <a:r>
              <a:rPr lang="it-IT" sz="3200" b="1" dirty="0">
                <a:solidFill>
                  <a:srgbClr val="0070C0"/>
                </a:solidFill>
              </a:rPr>
              <a:t>Direzione Strategica</a:t>
            </a:r>
          </a:p>
        </p:txBody>
      </p:sp>
      <p:pic>
        <p:nvPicPr>
          <p:cNvPr id="2058" name="Picture 10" descr="Icona Persona Generic color fill | Freepik">
            <a:extLst>
              <a:ext uri="{FF2B5EF4-FFF2-40B4-BE49-F238E27FC236}">
                <a16:creationId xmlns:a16="http://schemas.microsoft.com/office/drawing/2014/main" id="{071184F4-7234-49E4-90E7-2B726DA7378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60951" y="3708301"/>
            <a:ext cx="1790329" cy="1790329"/>
          </a:xfrm>
          <a:prstGeom prst="rect">
            <a:avLst/>
          </a:prstGeom>
          <a:noFill/>
          <a:extLst>
            <a:ext uri="{909E8E84-426E-40DD-AFC4-6F175D3DCCD1}">
              <a14:hiddenFill xmlns:a14="http://schemas.microsoft.com/office/drawing/2010/main">
                <a:solidFill>
                  <a:srgbClr val="FFFFFF"/>
                </a:solidFill>
              </a14:hiddenFill>
            </a:ext>
          </a:extLst>
        </p:spPr>
      </p:pic>
      <p:sp>
        <p:nvSpPr>
          <p:cNvPr id="9" name="Rettangolo 8">
            <a:extLst>
              <a:ext uri="{FF2B5EF4-FFF2-40B4-BE49-F238E27FC236}">
                <a16:creationId xmlns:a16="http://schemas.microsoft.com/office/drawing/2014/main" id="{0599A9D0-585C-4DD3-8090-F520A8076843}"/>
              </a:ext>
            </a:extLst>
          </p:cNvPr>
          <p:cNvSpPr/>
          <p:nvPr/>
        </p:nvSpPr>
        <p:spPr>
          <a:xfrm>
            <a:off x="8451280" y="3890060"/>
            <a:ext cx="3959512" cy="2554545"/>
          </a:xfrm>
          <a:prstGeom prst="rect">
            <a:avLst/>
          </a:prstGeom>
        </p:spPr>
        <p:txBody>
          <a:bodyPr wrap="square">
            <a:spAutoFit/>
          </a:bodyPr>
          <a:lstStyle/>
          <a:p>
            <a:r>
              <a:rPr lang="it-IT" sz="3200" b="1" dirty="0">
                <a:solidFill>
                  <a:srgbClr val="0070C0"/>
                </a:solidFill>
              </a:rPr>
              <a:t>Coordinatore della Commissione Aziendale per la valutazione delle tecnologie</a:t>
            </a:r>
          </a:p>
        </p:txBody>
      </p:sp>
    </p:spTree>
    <p:extLst>
      <p:ext uri="{BB962C8B-B14F-4D97-AF65-F5344CB8AC3E}">
        <p14:creationId xmlns:p14="http://schemas.microsoft.com/office/powerpoint/2010/main" val="24298069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9845E91A-BBF6-4FE4-9371-C1B5CD4C3896}"/>
              </a:ext>
            </a:extLst>
          </p:cNvPr>
          <p:cNvSpPr/>
          <p:nvPr/>
        </p:nvSpPr>
        <p:spPr>
          <a:xfrm>
            <a:off x="734870" y="323925"/>
            <a:ext cx="10098534" cy="646331"/>
          </a:xfrm>
          <a:prstGeom prst="rect">
            <a:avLst/>
          </a:prstGeom>
        </p:spPr>
        <p:txBody>
          <a:bodyPr wrap="none">
            <a:spAutoFit/>
          </a:bodyPr>
          <a:lstStyle/>
          <a:p>
            <a:pPr algn="ct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Prioritizzazione</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e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selezione</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dei</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percorsi</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differenziati</a:t>
            </a:r>
            <a:endPar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endParaRPr>
          </a:p>
        </p:txBody>
      </p:sp>
      <p:sp>
        <p:nvSpPr>
          <p:cNvPr id="3" name="Rettangolo 2">
            <a:extLst>
              <a:ext uri="{FF2B5EF4-FFF2-40B4-BE49-F238E27FC236}">
                <a16:creationId xmlns:a16="http://schemas.microsoft.com/office/drawing/2014/main" id="{988E1C77-99C7-4DE4-AA5F-DA13469BCF8A}"/>
              </a:ext>
            </a:extLst>
          </p:cNvPr>
          <p:cNvSpPr/>
          <p:nvPr/>
        </p:nvSpPr>
        <p:spPr>
          <a:xfrm>
            <a:off x="464827" y="1018652"/>
            <a:ext cx="7639720" cy="1754326"/>
          </a:xfrm>
          <a:prstGeom prst="rect">
            <a:avLst/>
          </a:prstGeom>
        </p:spPr>
        <p:txBody>
          <a:bodyPr wrap="none">
            <a:spAutoFit/>
          </a:bodyPr>
          <a:lstStyle/>
          <a:p>
            <a:r>
              <a:rPr lang="en-US" sz="3600" b="1" dirty="0" err="1">
                <a:latin typeface="Calibri" panose="020F0502020204030204" pitchFamily="34" charset="0"/>
                <a:ea typeface="MS Gothic" panose="020B0609070205080204" pitchFamily="49" charset="-128"/>
                <a:cs typeface="Times New Roman" panose="02020603050405020304" pitchFamily="18" charset="0"/>
              </a:rPr>
              <a:t>Criteri</a:t>
            </a:r>
            <a:r>
              <a:rPr lang="en-US" sz="3600" b="1" dirty="0">
                <a:latin typeface="Calibri" panose="020F0502020204030204" pitchFamily="34" charset="0"/>
                <a:ea typeface="MS Gothic" panose="020B0609070205080204" pitchFamily="49" charset="-128"/>
                <a:cs typeface="Times New Roman" panose="02020603050405020304" pitchFamily="18" charset="0"/>
              </a:rPr>
              <a:t>:</a:t>
            </a:r>
          </a:p>
          <a:p>
            <a:pPr marL="571500" indent="-571500">
              <a:buFontTx/>
              <a:buChar char="-"/>
            </a:pPr>
            <a:r>
              <a:rPr lang="en-US" sz="3600" dirty="0" err="1">
                <a:latin typeface="Calibri" panose="020F0502020204030204" pitchFamily="34" charset="0"/>
                <a:ea typeface="MS Gothic" panose="020B0609070205080204" pitchFamily="49" charset="-128"/>
                <a:cs typeface="Times New Roman" panose="02020603050405020304" pitchFamily="18" charset="0"/>
              </a:rPr>
              <a:t>Urgenza</a:t>
            </a:r>
            <a:endParaRPr lang="en-US" sz="3600" dirty="0">
              <a:latin typeface="Calibri" panose="020F0502020204030204" pitchFamily="34" charset="0"/>
              <a:ea typeface="MS Gothic" panose="020B0609070205080204" pitchFamily="49" charset="-128"/>
              <a:cs typeface="Times New Roman" panose="02020603050405020304" pitchFamily="18" charset="0"/>
            </a:endParaRPr>
          </a:p>
          <a:p>
            <a:pPr marL="571500" indent="-571500">
              <a:buFontTx/>
              <a:buChar char="-"/>
            </a:pPr>
            <a:r>
              <a:rPr lang="en-US" sz="3600" dirty="0" err="1">
                <a:latin typeface="Calibri" panose="020F0502020204030204" pitchFamily="34" charset="0"/>
                <a:ea typeface="MS Gothic" panose="020B0609070205080204" pitchFamily="49" charset="-128"/>
                <a:cs typeface="Times New Roman" panose="02020603050405020304" pitchFamily="18" charset="0"/>
              </a:rPr>
              <a:t>Impatto</a:t>
            </a:r>
            <a:r>
              <a:rPr lang="en-US" sz="3600" dirty="0">
                <a:latin typeface="Calibri" panose="020F0502020204030204" pitchFamily="34" charset="0"/>
                <a:ea typeface="MS Gothic" panose="020B0609070205080204" pitchFamily="49" charset="-128"/>
                <a:cs typeface="Times New Roman" panose="02020603050405020304" pitchFamily="18" charset="0"/>
              </a:rPr>
              <a:t> </a:t>
            </a:r>
            <a:r>
              <a:rPr lang="en-US" sz="3600" dirty="0" err="1">
                <a:latin typeface="Calibri" panose="020F0502020204030204" pitchFamily="34" charset="0"/>
                <a:ea typeface="MS Gothic" panose="020B0609070205080204" pitchFamily="49" charset="-128"/>
                <a:cs typeface="Times New Roman" panose="02020603050405020304" pitchFamily="18" charset="0"/>
              </a:rPr>
              <a:t>organizzativo</a:t>
            </a:r>
            <a:r>
              <a:rPr lang="en-US" sz="3600" dirty="0">
                <a:latin typeface="Calibri" panose="020F0502020204030204" pitchFamily="34" charset="0"/>
                <a:ea typeface="MS Gothic" panose="020B0609070205080204" pitchFamily="49" charset="-128"/>
                <a:cs typeface="Times New Roman" panose="02020603050405020304" pitchFamily="18" charset="0"/>
              </a:rPr>
              <a:t> e </a:t>
            </a:r>
            <a:r>
              <a:rPr lang="en-US" sz="3600" dirty="0" err="1">
                <a:latin typeface="Calibri" panose="020F0502020204030204" pitchFamily="34" charset="0"/>
                <a:ea typeface="MS Gothic" panose="020B0609070205080204" pitchFamily="49" charset="-128"/>
                <a:cs typeface="Times New Roman" panose="02020603050405020304" pitchFamily="18" charset="0"/>
              </a:rPr>
              <a:t>complessità</a:t>
            </a:r>
            <a:endParaRPr lang="en-US" sz="3600" dirty="0">
              <a:latin typeface="Calibri" panose="020F0502020204030204" pitchFamily="34" charset="0"/>
              <a:ea typeface="MS Gothic" panose="020B0609070205080204" pitchFamily="49" charset="-128"/>
              <a:cs typeface="Times New Roman" panose="02020603050405020304" pitchFamily="18" charset="0"/>
            </a:endParaRPr>
          </a:p>
        </p:txBody>
      </p:sp>
      <p:sp>
        <p:nvSpPr>
          <p:cNvPr id="4" name="Rettangolo 3">
            <a:extLst>
              <a:ext uri="{FF2B5EF4-FFF2-40B4-BE49-F238E27FC236}">
                <a16:creationId xmlns:a16="http://schemas.microsoft.com/office/drawing/2014/main" id="{1B2C6A83-C6EF-492D-887A-33198DAA1833}"/>
              </a:ext>
            </a:extLst>
          </p:cNvPr>
          <p:cNvSpPr/>
          <p:nvPr/>
        </p:nvSpPr>
        <p:spPr>
          <a:xfrm>
            <a:off x="440888" y="2821374"/>
            <a:ext cx="7639720" cy="3970318"/>
          </a:xfrm>
          <a:prstGeom prst="rect">
            <a:avLst/>
          </a:prstGeom>
        </p:spPr>
        <p:txBody>
          <a:bodyPr wrap="square">
            <a:spAutoFit/>
          </a:bodyPr>
          <a:lstStyle/>
          <a:p>
            <a:r>
              <a:rPr lang="en-US" sz="3600" b="1" dirty="0" err="1">
                <a:latin typeface="Calibri" panose="020F0502020204030204" pitchFamily="34" charset="0"/>
                <a:ea typeface="MS Gothic" panose="020B0609070205080204" pitchFamily="49" charset="-128"/>
                <a:cs typeface="Times New Roman" panose="02020603050405020304" pitchFamily="18" charset="0"/>
              </a:rPr>
              <a:t>Percorsi</a:t>
            </a:r>
            <a:r>
              <a:rPr lang="en-US" sz="3600" b="1" dirty="0">
                <a:latin typeface="Calibri" panose="020F0502020204030204" pitchFamily="34" charset="0"/>
                <a:ea typeface="MS Gothic" panose="020B0609070205080204" pitchFamily="49" charset="-128"/>
                <a:cs typeface="Times New Roman" panose="02020603050405020304" pitchFamily="18" charset="0"/>
              </a:rPr>
              <a:t>:</a:t>
            </a:r>
          </a:p>
          <a:p>
            <a:pPr marL="571500" indent="-571500">
              <a:buFontTx/>
              <a:buChar char="-"/>
            </a:pPr>
            <a:r>
              <a:rPr lang="en-US" sz="3600" dirty="0" err="1">
                <a:latin typeface="Calibri" panose="020F0502020204030204" pitchFamily="34" charset="0"/>
                <a:ea typeface="MS Gothic" panose="020B0609070205080204" pitchFamily="49" charset="-128"/>
                <a:cs typeface="Times New Roman" panose="02020603050405020304" pitchFamily="18" charset="0"/>
              </a:rPr>
              <a:t>Urgenza</a:t>
            </a:r>
            <a:r>
              <a:rPr lang="en-US" sz="3600" dirty="0">
                <a:latin typeface="Calibri" panose="020F0502020204030204" pitchFamily="34" charset="0"/>
                <a:ea typeface="MS Gothic" panose="020B0609070205080204" pitchFamily="49" charset="-128"/>
                <a:cs typeface="Times New Roman" panose="02020603050405020304" pitchFamily="18" charset="0"/>
              </a:rPr>
              <a:t> </a:t>
            </a:r>
            <a:r>
              <a:rPr lang="en-US" sz="3600" dirty="0" err="1">
                <a:latin typeface="Calibri" panose="020F0502020204030204" pitchFamily="34" charset="0"/>
                <a:ea typeface="MS Gothic" panose="020B0609070205080204" pitchFamily="49" charset="-128"/>
                <a:cs typeface="Times New Roman" panose="02020603050405020304" pitchFamily="18" charset="0"/>
              </a:rPr>
              <a:t>critica</a:t>
            </a:r>
            <a:endParaRPr lang="en-US" sz="3600" dirty="0">
              <a:latin typeface="Calibri" panose="020F0502020204030204" pitchFamily="34" charset="0"/>
              <a:ea typeface="MS Gothic" panose="020B0609070205080204" pitchFamily="49" charset="-128"/>
              <a:cs typeface="Times New Roman" panose="02020603050405020304" pitchFamily="18" charset="0"/>
            </a:endParaRPr>
          </a:p>
          <a:p>
            <a:pPr marL="571500" indent="-571500">
              <a:buFontTx/>
              <a:buChar char="-"/>
            </a:pPr>
            <a:r>
              <a:rPr lang="en-US" sz="3600" dirty="0" err="1">
                <a:latin typeface="Calibri" panose="020F0502020204030204" pitchFamily="34" charset="0"/>
                <a:ea typeface="MS Gothic" panose="020B0609070205080204" pitchFamily="49" charset="-128"/>
                <a:cs typeface="Times New Roman" panose="02020603050405020304" pitchFamily="18" charset="0"/>
              </a:rPr>
              <a:t>Urgenza</a:t>
            </a:r>
            <a:r>
              <a:rPr lang="en-US" sz="3600" dirty="0">
                <a:latin typeface="Calibri" panose="020F0502020204030204" pitchFamily="34" charset="0"/>
                <a:ea typeface="MS Gothic" panose="020B0609070205080204" pitchFamily="49" charset="-128"/>
                <a:cs typeface="Times New Roman" panose="02020603050405020304" pitchFamily="18" charset="0"/>
              </a:rPr>
              <a:t> non </a:t>
            </a:r>
            <a:r>
              <a:rPr lang="en-US" sz="3600" dirty="0" err="1">
                <a:latin typeface="Calibri" panose="020F0502020204030204" pitchFamily="34" charset="0"/>
                <a:ea typeface="MS Gothic" panose="020B0609070205080204" pitchFamily="49" charset="-128"/>
                <a:cs typeface="Times New Roman" panose="02020603050405020304" pitchFamily="18" charset="0"/>
              </a:rPr>
              <a:t>critica</a:t>
            </a:r>
            <a:endParaRPr lang="en-US" sz="3600" dirty="0">
              <a:latin typeface="Calibri" panose="020F0502020204030204" pitchFamily="34" charset="0"/>
              <a:ea typeface="MS Gothic" panose="020B0609070205080204" pitchFamily="49" charset="-128"/>
              <a:cs typeface="Times New Roman" panose="02020603050405020304" pitchFamily="18" charset="0"/>
            </a:endParaRPr>
          </a:p>
          <a:p>
            <a:pPr marL="571500" indent="-571500">
              <a:buFontTx/>
              <a:buChar char="-"/>
            </a:pPr>
            <a:r>
              <a:rPr lang="en-US" sz="3600" dirty="0" err="1">
                <a:latin typeface="Calibri" panose="020F0502020204030204" pitchFamily="34" charset="0"/>
                <a:ea typeface="MS Gothic" panose="020B0609070205080204" pitchFamily="49" charset="-128"/>
                <a:cs typeface="Times New Roman" panose="02020603050405020304" pitchFamily="18" charset="0"/>
              </a:rPr>
              <a:t>Richieste</a:t>
            </a:r>
            <a:r>
              <a:rPr lang="en-US" sz="3600" dirty="0">
                <a:latin typeface="Calibri" panose="020F0502020204030204" pitchFamily="34" charset="0"/>
                <a:ea typeface="MS Gothic" panose="020B0609070205080204" pitchFamily="49" charset="-128"/>
                <a:cs typeface="Times New Roman" panose="02020603050405020304" pitchFamily="18" charset="0"/>
              </a:rPr>
              <a:t> non </a:t>
            </a:r>
            <a:r>
              <a:rPr lang="en-US" sz="3600" dirty="0" err="1">
                <a:latin typeface="Calibri" panose="020F0502020204030204" pitchFamily="34" charset="0"/>
                <a:ea typeface="MS Gothic" panose="020B0609070205080204" pitchFamily="49" charset="-128"/>
                <a:cs typeface="Times New Roman" panose="02020603050405020304" pitchFamily="18" charset="0"/>
              </a:rPr>
              <a:t>urgenti</a:t>
            </a:r>
            <a:r>
              <a:rPr lang="en-US" sz="3600" dirty="0">
                <a:latin typeface="Calibri" panose="020F0502020204030204" pitchFamily="34" charset="0"/>
                <a:ea typeface="MS Gothic" panose="020B0609070205080204" pitchFamily="49" charset="-128"/>
                <a:cs typeface="Times New Roman" panose="02020603050405020304" pitchFamily="18" charset="0"/>
              </a:rPr>
              <a:t> a basso </a:t>
            </a:r>
            <a:r>
              <a:rPr lang="en-US" sz="3600" dirty="0" err="1">
                <a:latin typeface="Calibri" panose="020F0502020204030204" pitchFamily="34" charset="0"/>
                <a:ea typeface="MS Gothic" panose="020B0609070205080204" pitchFamily="49" charset="-128"/>
                <a:cs typeface="Times New Roman" panose="02020603050405020304" pitchFamily="18" charset="0"/>
              </a:rPr>
              <a:t>impatto</a:t>
            </a:r>
            <a:r>
              <a:rPr lang="en-US" sz="3600" dirty="0">
                <a:latin typeface="Calibri" panose="020F0502020204030204" pitchFamily="34" charset="0"/>
                <a:ea typeface="MS Gothic" panose="020B0609070205080204" pitchFamily="49" charset="-128"/>
                <a:cs typeface="Times New Roman" panose="02020603050405020304" pitchFamily="18" charset="0"/>
              </a:rPr>
              <a:t> e </a:t>
            </a:r>
            <a:r>
              <a:rPr lang="en-US" sz="3600" dirty="0" err="1">
                <a:latin typeface="Calibri" panose="020F0502020204030204" pitchFamily="34" charset="0"/>
                <a:ea typeface="MS Gothic" panose="020B0609070205080204" pitchFamily="49" charset="-128"/>
                <a:cs typeface="Times New Roman" panose="02020603050405020304" pitchFamily="18" charset="0"/>
              </a:rPr>
              <a:t>complessità</a:t>
            </a:r>
            <a:endParaRPr lang="en-US" sz="3600" dirty="0">
              <a:latin typeface="Calibri" panose="020F0502020204030204" pitchFamily="34" charset="0"/>
              <a:ea typeface="MS Gothic" panose="020B0609070205080204" pitchFamily="49" charset="-128"/>
              <a:cs typeface="Times New Roman" panose="02020603050405020304" pitchFamily="18" charset="0"/>
            </a:endParaRPr>
          </a:p>
          <a:p>
            <a:pPr marL="571500" indent="-571500">
              <a:buFontTx/>
              <a:buChar char="-"/>
            </a:pPr>
            <a:r>
              <a:rPr lang="en-US" sz="3600" dirty="0" err="1">
                <a:latin typeface="Calibri" panose="020F0502020204030204" pitchFamily="34" charset="0"/>
                <a:ea typeface="MS Gothic" panose="020B0609070205080204" pitchFamily="49" charset="-128"/>
                <a:cs typeface="Times New Roman" panose="02020603050405020304" pitchFamily="18" charset="0"/>
              </a:rPr>
              <a:t>Richieste</a:t>
            </a:r>
            <a:r>
              <a:rPr lang="en-US" sz="3600" dirty="0">
                <a:latin typeface="Calibri" panose="020F0502020204030204" pitchFamily="34" charset="0"/>
                <a:ea typeface="MS Gothic" panose="020B0609070205080204" pitchFamily="49" charset="-128"/>
                <a:cs typeface="Times New Roman" panose="02020603050405020304" pitchFamily="18" charset="0"/>
              </a:rPr>
              <a:t> non </a:t>
            </a:r>
            <a:r>
              <a:rPr lang="en-US" sz="3600" dirty="0" err="1">
                <a:latin typeface="Calibri" panose="020F0502020204030204" pitchFamily="34" charset="0"/>
                <a:ea typeface="MS Gothic" panose="020B0609070205080204" pitchFamily="49" charset="-128"/>
                <a:cs typeface="Times New Roman" panose="02020603050405020304" pitchFamily="18" charset="0"/>
              </a:rPr>
              <a:t>urgenti</a:t>
            </a:r>
            <a:r>
              <a:rPr lang="en-US" sz="3600" dirty="0">
                <a:latin typeface="Calibri" panose="020F0502020204030204" pitchFamily="34" charset="0"/>
                <a:ea typeface="MS Gothic" panose="020B0609070205080204" pitchFamily="49" charset="-128"/>
                <a:cs typeface="Times New Roman" panose="02020603050405020304" pitchFamily="18" charset="0"/>
              </a:rPr>
              <a:t> ad </a:t>
            </a:r>
            <a:r>
              <a:rPr lang="en-US" sz="3600" dirty="0" err="1">
                <a:latin typeface="Calibri" panose="020F0502020204030204" pitchFamily="34" charset="0"/>
                <a:ea typeface="MS Gothic" panose="020B0609070205080204" pitchFamily="49" charset="-128"/>
                <a:cs typeface="Times New Roman" panose="02020603050405020304" pitchFamily="18" charset="0"/>
              </a:rPr>
              <a:t>elevato</a:t>
            </a:r>
            <a:r>
              <a:rPr lang="en-US" sz="3600" dirty="0">
                <a:latin typeface="Calibri" panose="020F0502020204030204" pitchFamily="34" charset="0"/>
                <a:ea typeface="MS Gothic" panose="020B0609070205080204" pitchFamily="49" charset="-128"/>
                <a:cs typeface="Times New Roman" panose="02020603050405020304" pitchFamily="18" charset="0"/>
              </a:rPr>
              <a:t> </a:t>
            </a:r>
            <a:r>
              <a:rPr lang="en-US" sz="3600" dirty="0" err="1">
                <a:latin typeface="Calibri" panose="020F0502020204030204" pitchFamily="34" charset="0"/>
                <a:ea typeface="MS Gothic" panose="020B0609070205080204" pitchFamily="49" charset="-128"/>
                <a:cs typeface="Times New Roman" panose="02020603050405020304" pitchFamily="18" charset="0"/>
              </a:rPr>
              <a:t>impatto</a:t>
            </a:r>
            <a:r>
              <a:rPr lang="en-US" sz="3600" dirty="0">
                <a:latin typeface="Calibri" panose="020F0502020204030204" pitchFamily="34" charset="0"/>
                <a:ea typeface="MS Gothic" panose="020B0609070205080204" pitchFamily="49" charset="-128"/>
                <a:cs typeface="Times New Roman" panose="02020603050405020304" pitchFamily="18" charset="0"/>
              </a:rPr>
              <a:t> e </a:t>
            </a:r>
            <a:r>
              <a:rPr lang="en-US" sz="3600" dirty="0" err="1">
                <a:latin typeface="Calibri" panose="020F0502020204030204" pitchFamily="34" charset="0"/>
                <a:ea typeface="MS Gothic" panose="020B0609070205080204" pitchFamily="49" charset="-128"/>
                <a:cs typeface="Times New Roman" panose="02020603050405020304" pitchFamily="18" charset="0"/>
              </a:rPr>
              <a:t>complessità</a:t>
            </a:r>
            <a:endParaRPr lang="en-US" sz="3600" dirty="0">
              <a:latin typeface="Calibri" panose="020F0502020204030204" pitchFamily="34" charset="0"/>
              <a:ea typeface="MS Gothic" panose="020B0609070205080204" pitchFamily="49" charset="-128"/>
              <a:cs typeface="Times New Roman" panose="02020603050405020304" pitchFamily="18" charset="0"/>
            </a:endParaRPr>
          </a:p>
        </p:txBody>
      </p:sp>
      <p:pic>
        <p:nvPicPr>
          <p:cNvPr id="5" name="Immagine 4">
            <a:extLst>
              <a:ext uri="{FF2B5EF4-FFF2-40B4-BE49-F238E27FC236}">
                <a16:creationId xmlns:a16="http://schemas.microsoft.com/office/drawing/2014/main" id="{BA2A5960-5943-4BFA-8BAB-E05EB03047FD}"/>
              </a:ext>
            </a:extLst>
          </p:cNvPr>
          <p:cNvPicPr>
            <a:picLocks noChangeAspect="1"/>
          </p:cNvPicPr>
          <p:nvPr/>
        </p:nvPicPr>
        <p:blipFill>
          <a:blip r:embed="rId2"/>
          <a:stretch>
            <a:fillRect/>
          </a:stretch>
        </p:blipFill>
        <p:spPr>
          <a:xfrm>
            <a:off x="3924647" y="2681183"/>
            <a:ext cx="1310011" cy="993584"/>
          </a:xfrm>
          <a:prstGeom prst="rect">
            <a:avLst/>
          </a:prstGeom>
        </p:spPr>
      </p:pic>
      <p:pic>
        <p:nvPicPr>
          <p:cNvPr id="6" name="Immagine 5">
            <a:extLst>
              <a:ext uri="{FF2B5EF4-FFF2-40B4-BE49-F238E27FC236}">
                <a16:creationId xmlns:a16="http://schemas.microsoft.com/office/drawing/2014/main" id="{511E65FA-FFD9-4802-B536-CC4DD3987ADD}"/>
              </a:ext>
            </a:extLst>
          </p:cNvPr>
          <p:cNvPicPr>
            <a:picLocks noChangeAspect="1"/>
          </p:cNvPicPr>
          <p:nvPr/>
        </p:nvPicPr>
        <p:blipFill>
          <a:blip r:embed="rId3"/>
          <a:stretch>
            <a:fillRect/>
          </a:stretch>
        </p:blipFill>
        <p:spPr>
          <a:xfrm>
            <a:off x="4831205" y="3723163"/>
            <a:ext cx="1035846" cy="875926"/>
          </a:xfrm>
          <a:prstGeom prst="rect">
            <a:avLst/>
          </a:prstGeom>
        </p:spPr>
      </p:pic>
      <p:pic>
        <p:nvPicPr>
          <p:cNvPr id="7" name="Immagine 6">
            <a:extLst>
              <a:ext uri="{FF2B5EF4-FFF2-40B4-BE49-F238E27FC236}">
                <a16:creationId xmlns:a16="http://schemas.microsoft.com/office/drawing/2014/main" id="{C44271CE-9368-417E-8C89-4DE4677F76B6}"/>
              </a:ext>
            </a:extLst>
          </p:cNvPr>
          <p:cNvPicPr>
            <a:picLocks noChangeAspect="1"/>
          </p:cNvPicPr>
          <p:nvPr/>
        </p:nvPicPr>
        <p:blipFill>
          <a:blip r:embed="rId4"/>
          <a:stretch>
            <a:fillRect/>
          </a:stretch>
        </p:blipFill>
        <p:spPr>
          <a:xfrm>
            <a:off x="7453039" y="4525797"/>
            <a:ext cx="4393058" cy="19188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674646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BE02EA23-8DEF-4284-AB09-C4652DC0217B}"/>
              </a:ext>
            </a:extLst>
          </p:cNvPr>
          <p:cNvSpPr/>
          <p:nvPr/>
        </p:nvSpPr>
        <p:spPr>
          <a:xfrm>
            <a:off x="1158330" y="323925"/>
            <a:ext cx="9251635" cy="646331"/>
          </a:xfrm>
          <a:prstGeom prst="rect">
            <a:avLst/>
          </a:prstGeom>
        </p:spPr>
        <p:txBody>
          <a:bodyPr wrap="none">
            <a:spAutoFit/>
          </a:bodyPr>
          <a:lstStyle/>
          <a:p>
            <a:pPr algn="ct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URGENZE CRITICHE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nel</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minor tempo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possibile</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a:t>
            </a:r>
          </a:p>
        </p:txBody>
      </p:sp>
      <p:pic>
        <p:nvPicPr>
          <p:cNvPr id="3074" name="Picture 2">
            <a:extLst>
              <a:ext uri="{FF2B5EF4-FFF2-40B4-BE49-F238E27FC236}">
                <a16:creationId xmlns:a16="http://schemas.microsoft.com/office/drawing/2014/main" id="{8586EBBC-3D49-4EA4-B378-93BFDED053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422" y="1404045"/>
            <a:ext cx="9077417"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77464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3C395306-0762-4AB4-9F72-8A5A25A9D207}"/>
              </a:ext>
            </a:extLst>
          </p:cNvPr>
          <p:cNvSpPr/>
          <p:nvPr/>
        </p:nvSpPr>
        <p:spPr>
          <a:xfrm>
            <a:off x="1430744" y="179909"/>
            <a:ext cx="8928663" cy="646331"/>
          </a:xfrm>
          <a:prstGeom prst="rect">
            <a:avLst/>
          </a:prstGeom>
        </p:spPr>
        <p:txBody>
          <a:bodyPr wrap="none">
            <a:spAutoFit/>
          </a:bodyPr>
          <a:lstStyle/>
          <a:p>
            <a:pPr algn="ct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URGENZE NON CRITICHE (di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norma</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 5-7 </a:t>
            </a:r>
            <a:r>
              <a:rPr lang="en-US" sz="3600" b="1" dirty="0" err="1">
                <a:solidFill>
                  <a:srgbClr val="0070C0"/>
                </a:solidFill>
                <a:latin typeface="Calibri" panose="020F0502020204030204" pitchFamily="34" charset="0"/>
                <a:ea typeface="MS Gothic" panose="020B0609070205080204" pitchFamily="49" charset="-128"/>
                <a:cs typeface="Times New Roman" panose="02020603050405020304" pitchFamily="18" charset="0"/>
              </a:rPr>
              <a:t>giorni</a:t>
            </a:r>
            <a:r>
              <a:rPr lang="en-US" sz="36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a:t>
            </a:r>
          </a:p>
        </p:txBody>
      </p:sp>
      <p:pic>
        <p:nvPicPr>
          <p:cNvPr id="4099" name="Picture 3">
            <a:extLst>
              <a:ext uri="{FF2B5EF4-FFF2-40B4-BE49-F238E27FC236}">
                <a16:creationId xmlns:a16="http://schemas.microsoft.com/office/drawing/2014/main" id="{5BF456AE-45C9-4EEE-A51C-047D904A5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4407" y="930672"/>
            <a:ext cx="8928662" cy="589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47810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7E78079-FB8E-4B52-A19E-CB6EF7B13484}"/>
              </a:ext>
            </a:extLst>
          </p:cNvPr>
          <p:cNvSpPr/>
          <p:nvPr/>
        </p:nvSpPr>
        <p:spPr>
          <a:xfrm>
            <a:off x="1692399" y="0"/>
            <a:ext cx="8361328" cy="1384995"/>
          </a:xfrm>
          <a:prstGeom prst="rect">
            <a:avLst/>
          </a:prstGeom>
        </p:spPr>
        <p:txBody>
          <a:bodyPr wrap="square">
            <a:spAutoFit/>
          </a:bodyPr>
          <a:lstStyle/>
          <a:p>
            <a:pPr algn="ctr"/>
            <a:r>
              <a:rPr lang="en-US" sz="28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RICHIESTE NON URGENTI: </a:t>
            </a:r>
          </a:p>
          <a:p>
            <a:pPr marL="742950" indent="-742950" algn="ctr">
              <a:buAutoNum type="arabicParenR"/>
            </a:pPr>
            <a:r>
              <a:rPr lang="en-US" sz="28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A BASSO IMPATTO E COMPLESSITA’ (15-20 GG) </a:t>
            </a:r>
          </a:p>
          <a:p>
            <a:pPr marL="742950" indent="-742950" algn="ctr">
              <a:buAutoNum type="arabicParenR"/>
            </a:pPr>
            <a:r>
              <a:rPr lang="en-US" sz="2800" b="1" dirty="0">
                <a:solidFill>
                  <a:srgbClr val="0070C0"/>
                </a:solidFill>
                <a:latin typeface="Calibri" panose="020F0502020204030204" pitchFamily="34" charset="0"/>
                <a:ea typeface="MS Gothic" panose="020B0609070205080204" pitchFamily="49" charset="-128"/>
                <a:cs typeface="Times New Roman" panose="02020603050405020304" pitchFamily="18" charset="0"/>
              </a:rPr>
              <a:t>AD ELEVATO IMPATTO E COMPLESSITA’ (30-45 GG)</a:t>
            </a:r>
          </a:p>
        </p:txBody>
      </p:sp>
      <p:pic>
        <p:nvPicPr>
          <p:cNvPr id="5122" name="Picture 2">
            <a:extLst>
              <a:ext uri="{FF2B5EF4-FFF2-40B4-BE49-F238E27FC236}">
                <a16:creationId xmlns:a16="http://schemas.microsoft.com/office/drawing/2014/main" id="{F465C335-30AE-4675-B316-C1C351409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2359" y="1389856"/>
            <a:ext cx="9217024" cy="5459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573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4645D13D-8E09-4353-A8AD-6AEEDB48566C}"/>
              </a:ext>
            </a:extLst>
          </p:cNvPr>
          <p:cNvPicPr>
            <a:picLocks noChangeAspect="1"/>
          </p:cNvPicPr>
          <p:nvPr/>
        </p:nvPicPr>
        <p:blipFill>
          <a:blip r:embed="rId2"/>
          <a:stretch>
            <a:fillRect/>
          </a:stretch>
        </p:blipFill>
        <p:spPr>
          <a:xfrm>
            <a:off x="540271" y="433764"/>
            <a:ext cx="4439270" cy="5973009"/>
          </a:xfrm>
          <a:prstGeom prst="rect">
            <a:avLst/>
          </a:prstGeom>
          <a:ln>
            <a:noFill/>
          </a:ln>
          <a:effectLst>
            <a:outerShdw blurRad="292100" dist="139700" dir="2700000" algn="tl" rotWithShape="0">
              <a:srgbClr val="333333">
                <a:alpha val="65000"/>
              </a:srgbClr>
            </a:outerShdw>
          </a:effectLst>
        </p:spPr>
      </p:pic>
      <p:pic>
        <p:nvPicPr>
          <p:cNvPr id="4" name="Immagine 3">
            <a:extLst>
              <a:ext uri="{FF2B5EF4-FFF2-40B4-BE49-F238E27FC236}">
                <a16:creationId xmlns:a16="http://schemas.microsoft.com/office/drawing/2014/main" id="{22046AE5-9FEE-4B98-967D-B29363098051}"/>
              </a:ext>
            </a:extLst>
          </p:cNvPr>
          <p:cNvPicPr>
            <a:picLocks noChangeAspect="1"/>
          </p:cNvPicPr>
          <p:nvPr/>
        </p:nvPicPr>
        <p:blipFill>
          <a:blip r:embed="rId3"/>
          <a:stretch>
            <a:fillRect/>
          </a:stretch>
        </p:blipFill>
        <p:spPr>
          <a:xfrm>
            <a:off x="5652839" y="538553"/>
            <a:ext cx="5760640" cy="6077798"/>
          </a:xfrm>
          <a:prstGeom prst="rect">
            <a:avLst/>
          </a:prstGeom>
        </p:spPr>
      </p:pic>
    </p:spTree>
    <p:extLst>
      <p:ext uri="{BB962C8B-B14F-4D97-AF65-F5344CB8AC3E}">
        <p14:creationId xmlns:p14="http://schemas.microsoft.com/office/powerpoint/2010/main" val="16406566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2EA616B8-DC47-4935-8514-3CE3B4BA2EBF}"/>
              </a:ext>
            </a:extLst>
          </p:cNvPr>
          <p:cNvSpPr txBox="1"/>
          <p:nvPr/>
        </p:nvSpPr>
        <p:spPr>
          <a:xfrm>
            <a:off x="1188343" y="387275"/>
            <a:ext cx="10441160" cy="584775"/>
          </a:xfrm>
          <a:prstGeom prst="rect">
            <a:avLst/>
          </a:prstGeom>
          <a:noFill/>
        </p:spPr>
        <p:txBody>
          <a:bodyPr wrap="square" rtlCol="0">
            <a:spAutoFit/>
          </a:bodyPr>
          <a:lstStyle/>
          <a:p>
            <a:pPr algn="ctr"/>
            <a:r>
              <a:rPr lang="it-IT" sz="3200" b="1" dirty="0">
                <a:solidFill>
                  <a:srgbClr val="0070C0"/>
                </a:solidFill>
              </a:rPr>
              <a:t>Allegato 5 - REMIND CHECKLIST VALUTAZIONE TECNOLOGIE</a:t>
            </a:r>
          </a:p>
        </p:txBody>
      </p:sp>
      <p:pic>
        <p:nvPicPr>
          <p:cNvPr id="3" name="Immagine 2">
            <a:extLst>
              <a:ext uri="{FF2B5EF4-FFF2-40B4-BE49-F238E27FC236}">
                <a16:creationId xmlns:a16="http://schemas.microsoft.com/office/drawing/2014/main" id="{68A9F7FA-FC0C-4B69-A636-190F9047CAFB}"/>
              </a:ext>
            </a:extLst>
          </p:cNvPr>
          <p:cNvPicPr>
            <a:picLocks noChangeAspect="1"/>
          </p:cNvPicPr>
          <p:nvPr/>
        </p:nvPicPr>
        <p:blipFill>
          <a:blip r:embed="rId2"/>
          <a:stretch>
            <a:fillRect/>
          </a:stretch>
        </p:blipFill>
        <p:spPr>
          <a:xfrm>
            <a:off x="-1" y="1016228"/>
            <a:ext cx="12169775" cy="5437035"/>
          </a:xfrm>
          <a:prstGeom prst="rect">
            <a:avLst/>
          </a:prstGeom>
        </p:spPr>
      </p:pic>
    </p:spTree>
    <p:extLst>
      <p:ext uri="{BB962C8B-B14F-4D97-AF65-F5344CB8AC3E}">
        <p14:creationId xmlns:p14="http://schemas.microsoft.com/office/powerpoint/2010/main" val="5508284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854AFFEE-37BA-449D-8F55-82ABA5AA71CC}"/>
              </a:ext>
            </a:extLst>
          </p:cNvPr>
          <p:cNvSpPr txBox="1"/>
          <p:nvPr/>
        </p:nvSpPr>
        <p:spPr>
          <a:xfrm>
            <a:off x="5076775" y="539949"/>
            <a:ext cx="7488832" cy="646331"/>
          </a:xfrm>
          <a:prstGeom prst="rect">
            <a:avLst/>
          </a:prstGeom>
          <a:noFill/>
        </p:spPr>
        <p:txBody>
          <a:bodyPr wrap="square" rtlCol="0">
            <a:spAutoFit/>
          </a:bodyPr>
          <a:lstStyle/>
          <a:p>
            <a:pPr algn="ctr"/>
            <a:r>
              <a:rPr lang="it-IT" sz="3600" b="1" dirty="0">
                <a:solidFill>
                  <a:srgbClr val="0070C0"/>
                </a:solidFill>
              </a:rPr>
              <a:t>Allegato 6 – SCHEDA VALUTATORE</a:t>
            </a:r>
          </a:p>
        </p:txBody>
      </p:sp>
      <p:pic>
        <p:nvPicPr>
          <p:cNvPr id="10242" name="Picture 2" descr="Scheda di valutazione">
            <a:extLst>
              <a:ext uri="{FF2B5EF4-FFF2-40B4-BE49-F238E27FC236}">
                <a16:creationId xmlns:a16="http://schemas.microsoft.com/office/drawing/2014/main" id="{7C3E6247-7466-4D0F-A3CC-331DD7D35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847" y="1036704"/>
            <a:ext cx="5715000" cy="5715000"/>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8F6E8E5E-E57D-4299-97C5-8488872992B6}"/>
              </a:ext>
            </a:extLst>
          </p:cNvPr>
          <p:cNvPicPr>
            <a:picLocks noChangeAspect="1"/>
          </p:cNvPicPr>
          <p:nvPr/>
        </p:nvPicPr>
        <p:blipFill>
          <a:blip r:embed="rId3"/>
          <a:stretch>
            <a:fillRect/>
          </a:stretch>
        </p:blipFill>
        <p:spPr>
          <a:xfrm>
            <a:off x="180231" y="162264"/>
            <a:ext cx="5315692" cy="6516009"/>
          </a:xfrm>
          <a:prstGeom prst="rect">
            <a:avLst/>
          </a:prstGeom>
        </p:spPr>
      </p:pic>
    </p:spTree>
    <p:extLst>
      <p:ext uri="{BB962C8B-B14F-4D97-AF65-F5344CB8AC3E}">
        <p14:creationId xmlns:p14="http://schemas.microsoft.com/office/powerpoint/2010/main" val="31111657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9E97CF4-3F8C-48A6-BFE6-F737AC3F09FC}"/>
              </a:ext>
            </a:extLst>
          </p:cNvPr>
          <p:cNvSpPr txBox="1"/>
          <p:nvPr/>
        </p:nvSpPr>
        <p:spPr>
          <a:xfrm>
            <a:off x="4871116" y="0"/>
            <a:ext cx="6912768" cy="1077218"/>
          </a:xfrm>
          <a:prstGeom prst="rect">
            <a:avLst/>
          </a:prstGeom>
          <a:noFill/>
        </p:spPr>
        <p:txBody>
          <a:bodyPr wrap="square" rtlCol="0">
            <a:spAutoFit/>
          </a:bodyPr>
          <a:lstStyle/>
          <a:p>
            <a:pPr algn="ctr"/>
            <a:r>
              <a:rPr lang="it-IT" sz="3200" b="1" dirty="0">
                <a:solidFill>
                  <a:srgbClr val="0070C0"/>
                </a:solidFill>
              </a:rPr>
              <a:t>Allegato 7  - VERBALE COMMISSIONE VALUTAZIONE TECNOLOGIE</a:t>
            </a:r>
          </a:p>
        </p:txBody>
      </p:sp>
      <p:pic>
        <p:nvPicPr>
          <p:cNvPr id="3" name="Immagine 2">
            <a:extLst>
              <a:ext uri="{FF2B5EF4-FFF2-40B4-BE49-F238E27FC236}">
                <a16:creationId xmlns:a16="http://schemas.microsoft.com/office/drawing/2014/main" id="{4594B886-ABD5-4869-B3B0-2ACB416B2D5F}"/>
              </a:ext>
            </a:extLst>
          </p:cNvPr>
          <p:cNvPicPr>
            <a:picLocks noChangeAspect="1"/>
          </p:cNvPicPr>
          <p:nvPr/>
        </p:nvPicPr>
        <p:blipFill>
          <a:blip r:embed="rId2"/>
          <a:stretch>
            <a:fillRect/>
          </a:stretch>
        </p:blipFill>
        <p:spPr>
          <a:xfrm>
            <a:off x="252239" y="145521"/>
            <a:ext cx="4608512" cy="6549496"/>
          </a:xfrm>
          <a:prstGeom prst="rect">
            <a:avLst/>
          </a:prstGeom>
        </p:spPr>
      </p:pic>
      <p:pic>
        <p:nvPicPr>
          <p:cNvPr id="4" name="Immagine 3">
            <a:extLst>
              <a:ext uri="{FF2B5EF4-FFF2-40B4-BE49-F238E27FC236}">
                <a16:creationId xmlns:a16="http://schemas.microsoft.com/office/drawing/2014/main" id="{5877C602-5F17-46F1-8C7E-A5A2EBFF99DC}"/>
              </a:ext>
            </a:extLst>
          </p:cNvPr>
          <p:cNvPicPr>
            <a:picLocks noChangeAspect="1"/>
          </p:cNvPicPr>
          <p:nvPr/>
        </p:nvPicPr>
        <p:blipFill>
          <a:blip r:embed="rId3"/>
          <a:stretch>
            <a:fillRect/>
          </a:stretch>
        </p:blipFill>
        <p:spPr>
          <a:xfrm>
            <a:off x="5868863" y="1087436"/>
            <a:ext cx="4807662" cy="5753102"/>
          </a:xfrm>
          <a:prstGeom prst="rect">
            <a:avLst/>
          </a:prstGeom>
        </p:spPr>
      </p:pic>
    </p:spTree>
    <p:extLst>
      <p:ext uri="{BB962C8B-B14F-4D97-AF65-F5344CB8AC3E}">
        <p14:creationId xmlns:p14="http://schemas.microsoft.com/office/powerpoint/2010/main" val="16476371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XVIII Congresso Nazionale">
            <a:extLst>
              <a:ext uri="{FF2B5EF4-FFF2-40B4-BE49-F238E27FC236}">
                <a16:creationId xmlns:a16="http://schemas.microsoft.com/office/drawing/2014/main" id="{3F6B6F21-F124-4390-8D6D-FDE5B1D365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3410" y="924725"/>
            <a:ext cx="3629966" cy="5135104"/>
          </a:xfrm>
          <a:prstGeom prst="rect">
            <a:avLst/>
          </a:prstGeom>
          <a:noFill/>
          <a:extLst>
            <a:ext uri="{909E8E84-426E-40DD-AFC4-6F175D3DCCD1}">
              <a14:hiddenFill xmlns:a14="http://schemas.microsoft.com/office/drawing/2010/main">
                <a:solidFill>
                  <a:srgbClr val="FFFFFF"/>
                </a:solidFill>
              </a14:hiddenFill>
            </a:ext>
          </a:extLst>
        </p:spPr>
      </p:pic>
      <p:pic>
        <p:nvPicPr>
          <p:cNvPr id="2" name="Immagine 1">
            <a:extLst>
              <a:ext uri="{FF2B5EF4-FFF2-40B4-BE49-F238E27FC236}">
                <a16:creationId xmlns:a16="http://schemas.microsoft.com/office/drawing/2014/main" id="{00878EA1-72C1-4F13-A13B-E112AD0A90B8}"/>
              </a:ext>
            </a:extLst>
          </p:cNvPr>
          <p:cNvPicPr>
            <a:picLocks noChangeAspect="1"/>
          </p:cNvPicPr>
          <p:nvPr/>
        </p:nvPicPr>
        <p:blipFill>
          <a:blip r:embed="rId3"/>
          <a:stretch>
            <a:fillRect/>
          </a:stretch>
        </p:blipFill>
        <p:spPr>
          <a:xfrm>
            <a:off x="4495548" y="1421980"/>
            <a:ext cx="3041919" cy="3996577"/>
          </a:xfrm>
          <a:prstGeom prst="rect">
            <a:avLst/>
          </a:prstGeom>
        </p:spPr>
      </p:pic>
      <p:pic>
        <p:nvPicPr>
          <p:cNvPr id="3" name="Immagine 2">
            <a:extLst>
              <a:ext uri="{FF2B5EF4-FFF2-40B4-BE49-F238E27FC236}">
                <a16:creationId xmlns:a16="http://schemas.microsoft.com/office/drawing/2014/main" id="{1EFB3CA5-252E-417E-BA90-CDB141EAFA7B}"/>
              </a:ext>
            </a:extLst>
          </p:cNvPr>
          <p:cNvPicPr>
            <a:picLocks noChangeAspect="1"/>
          </p:cNvPicPr>
          <p:nvPr/>
        </p:nvPicPr>
        <p:blipFill>
          <a:blip r:embed="rId4"/>
          <a:stretch>
            <a:fillRect/>
          </a:stretch>
        </p:blipFill>
        <p:spPr>
          <a:xfrm>
            <a:off x="8116400" y="2009441"/>
            <a:ext cx="3096344" cy="3996577"/>
          </a:xfrm>
          <a:prstGeom prst="rect">
            <a:avLst/>
          </a:prstGeom>
        </p:spPr>
      </p:pic>
      <p:sp>
        <p:nvSpPr>
          <p:cNvPr id="5" name="Rettangolo 4">
            <a:extLst>
              <a:ext uri="{FF2B5EF4-FFF2-40B4-BE49-F238E27FC236}">
                <a16:creationId xmlns:a16="http://schemas.microsoft.com/office/drawing/2014/main" id="{A6AAA83C-447C-4166-9562-B999C1AA5128}"/>
              </a:ext>
            </a:extLst>
          </p:cNvPr>
          <p:cNvSpPr/>
          <p:nvPr/>
        </p:nvSpPr>
        <p:spPr>
          <a:xfrm>
            <a:off x="8116400" y="3852317"/>
            <a:ext cx="1368152" cy="5760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noFill/>
            </a:endParaRPr>
          </a:p>
        </p:txBody>
      </p:sp>
      <p:sp>
        <p:nvSpPr>
          <p:cNvPr id="7" name="CasellaDiTesto 6">
            <a:extLst>
              <a:ext uri="{FF2B5EF4-FFF2-40B4-BE49-F238E27FC236}">
                <a16:creationId xmlns:a16="http://schemas.microsoft.com/office/drawing/2014/main" id="{2C833F3D-AE5B-421C-ACE5-11F1E53164B3}"/>
              </a:ext>
            </a:extLst>
          </p:cNvPr>
          <p:cNvSpPr txBox="1"/>
          <p:nvPr/>
        </p:nvSpPr>
        <p:spPr>
          <a:xfrm>
            <a:off x="3960651" y="160551"/>
            <a:ext cx="7992888" cy="707886"/>
          </a:xfrm>
          <a:prstGeom prst="rect">
            <a:avLst/>
          </a:prstGeom>
          <a:noFill/>
        </p:spPr>
        <p:txBody>
          <a:bodyPr wrap="square" rtlCol="0">
            <a:spAutoFit/>
          </a:bodyPr>
          <a:lstStyle/>
          <a:p>
            <a:pPr algn="ctr"/>
            <a:r>
              <a:rPr lang="it-IT" sz="4000" b="1" dirty="0">
                <a:solidFill>
                  <a:srgbClr val="0070C0"/>
                </a:solidFill>
              </a:rPr>
              <a:t>In prospettiva, un software gratuito?</a:t>
            </a:r>
          </a:p>
        </p:txBody>
      </p:sp>
    </p:spTree>
    <p:extLst>
      <p:ext uri="{BB962C8B-B14F-4D97-AF65-F5344CB8AC3E}">
        <p14:creationId xmlns:p14="http://schemas.microsoft.com/office/powerpoint/2010/main" val="8496562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l Piano d'azione – francesca curi coaching">
            <a:extLst>
              <a:ext uri="{FF2B5EF4-FFF2-40B4-BE49-F238E27FC236}">
                <a16:creationId xmlns:a16="http://schemas.microsoft.com/office/drawing/2014/main" id="{4C59A270-15A7-44D3-8BA7-D0AE502C7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911" y="1903001"/>
            <a:ext cx="5616624" cy="3744416"/>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2EA616B8-DC47-4935-8514-3CE3B4BA2EBF}"/>
              </a:ext>
            </a:extLst>
          </p:cNvPr>
          <p:cNvSpPr txBox="1"/>
          <p:nvPr/>
        </p:nvSpPr>
        <p:spPr>
          <a:xfrm>
            <a:off x="1800411" y="434299"/>
            <a:ext cx="9001000" cy="707886"/>
          </a:xfrm>
          <a:prstGeom prst="rect">
            <a:avLst/>
          </a:prstGeom>
          <a:noFill/>
        </p:spPr>
        <p:txBody>
          <a:bodyPr wrap="square" rtlCol="0">
            <a:spAutoFit/>
          </a:bodyPr>
          <a:lstStyle/>
          <a:p>
            <a:pPr algn="ctr"/>
            <a:r>
              <a:rPr lang="it-IT" sz="4000" b="1" dirty="0">
                <a:solidFill>
                  <a:srgbClr val="0070C0"/>
                </a:solidFill>
              </a:rPr>
              <a:t>Il piano d’azione: cogliere le opportunità</a:t>
            </a:r>
          </a:p>
        </p:txBody>
      </p:sp>
      <p:sp>
        <p:nvSpPr>
          <p:cNvPr id="3" name="Rettangolo 2">
            <a:extLst>
              <a:ext uri="{FF2B5EF4-FFF2-40B4-BE49-F238E27FC236}">
                <a16:creationId xmlns:a16="http://schemas.microsoft.com/office/drawing/2014/main" id="{807CD679-AA47-44E1-A2F1-CDDF9D5E1524}"/>
              </a:ext>
            </a:extLst>
          </p:cNvPr>
          <p:cNvSpPr/>
          <p:nvPr/>
        </p:nvSpPr>
        <p:spPr>
          <a:xfrm>
            <a:off x="108223" y="1260029"/>
            <a:ext cx="6912768" cy="5148204"/>
          </a:xfrm>
          <a:prstGeom prst="rect">
            <a:avLst/>
          </a:prstGeom>
        </p:spPr>
        <p:txBody>
          <a:bodyPr wrap="square">
            <a:spAutoFit/>
          </a:bodyPr>
          <a:lstStyle/>
          <a:p>
            <a:pPr marL="180340" algn="just">
              <a:lnSpc>
                <a:spcPct val="107000"/>
              </a:lnSpc>
              <a:spcAft>
                <a:spcPts val="0"/>
              </a:spcAft>
              <a:tabLst>
                <a:tab pos="180340" algn="l"/>
              </a:tabLst>
            </a:pPr>
            <a:r>
              <a:rPr lang="it-IT" sz="2200" b="1" dirty="0">
                <a:latin typeface="+mj-lt"/>
                <a:ea typeface="Calibri" panose="020F0502020204030204" pitchFamily="34" charset="0"/>
                <a:cs typeface="Times New Roman" panose="02020603050405020304" pitchFamily="18" charset="0"/>
              </a:rPr>
              <a:t>Obiettivi</a:t>
            </a:r>
            <a:endParaRPr lang="it-IT" sz="2200" dirty="0">
              <a:latin typeface="+mj-lt"/>
              <a:ea typeface="Calibri" panose="020F0502020204030204" pitchFamily="34" charset="0"/>
              <a:cs typeface="Times New Roman" panose="02020603050405020304" pitchFamily="18" charset="0"/>
            </a:endParaRPr>
          </a:p>
          <a:p>
            <a:pPr marL="342900" lvl="0" indent="-342900">
              <a:lnSpc>
                <a:spcPct val="107000"/>
              </a:lnSpc>
              <a:spcAft>
                <a:spcPts val="0"/>
              </a:spcAft>
              <a:buSzPts val="1000"/>
              <a:buFont typeface="Symbol" panose="05050102010706020507" pitchFamily="18" charset="2"/>
              <a:buChar char=""/>
              <a:tabLst>
                <a:tab pos="457200" algn="l"/>
              </a:tabLst>
            </a:pPr>
            <a:r>
              <a:rPr lang="it-IT" sz="2200" dirty="0">
                <a:latin typeface="+mj-lt"/>
                <a:ea typeface="Times New Roman" panose="02020603050405020304" pitchFamily="18" charset="0"/>
                <a:cs typeface="Times New Roman" panose="02020603050405020304" pitchFamily="18" charset="0"/>
              </a:rPr>
              <a:t>Perfezionare e approvare il Regolamento aziendale per l’introduzione di nuove tecnologie (grandi attrezzature, servizi, software, AI, dispositivi medici, farmaci, servizi).</a:t>
            </a:r>
            <a:endParaRPr lang="it-IT" sz="2200" dirty="0">
              <a:latin typeface="+mj-lt"/>
              <a:ea typeface="Calibri" panose="020F0502020204030204" pitchFamily="34" charset="0"/>
              <a:cs typeface="Times New Roman" panose="02020603050405020304" pitchFamily="18" charset="0"/>
            </a:endParaRPr>
          </a:p>
          <a:p>
            <a:pPr marL="342900" lvl="0" indent="-342900">
              <a:lnSpc>
                <a:spcPct val="107000"/>
              </a:lnSpc>
              <a:spcAft>
                <a:spcPts val="0"/>
              </a:spcAft>
              <a:buSzPts val="1000"/>
              <a:buFont typeface="Symbol" panose="05050102010706020507" pitchFamily="18" charset="2"/>
              <a:buChar char=""/>
              <a:tabLst>
                <a:tab pos="457200" algn="l"/>
              </a:tabLst>
            </a:pPr>
            <a:r>
              <a:rPr lang="it-IT" sz="2200" dirty="0">
                <a:latin typeface="+mj-lt"/>
                <a:ea typeface="Times New Roman" panose="02020603050405020304" pitchFamily="18" charset="0"/>
                <a:cs typeface="Times New Roman" panose="02020603050405020304" pitchFamily="18" charset="0"/>
              </a:rPr>
              <a:t>Aderire al progetto della Università di Pisa (Facoltà di Economia) per sperimentare ed introdurre il software di valutazione basato su MCDA (Multi‐</a:t>
            </a:r>
            <a:r>
              <a:rPr lang="it-IT" sz="2200" dirty="0" err="1">
                <a:latin typeface="+mj-lt"/>
                <a:ea typeface="Times New Roman" panose="02020603050405020304" pitchFamily="18" charset="0"/>
                <a:cs typeface="Times New Roman" panose="02020603050405020304" pitchFamily="18" charset="0"/>
              </a:rPr>
              <a:t>Criteria</a:t>
            </a:r>
            <a:r>
              <a:rPr lang="it-IT" sz="2200" dirty="0">
                <a:latin typeface="+mj-lt"/>
                <a:ea typeface="Times New Roman" panose="02020603050405020304" pitchFamily="18" charset="0"/>
                <a:cs typeface="Times New Roman" panose="02020603050405020304" pitchFamily="18" charset="0"/>
              </a:rPr>
              <a:t> </a:t>
            </a:r>
            <a:r>
              <a:rPr lang="it-IT" sz="2200" dirty="0" err="1">
                <a:latin typeface="+mj-lt"/>
                <a:ea typeface="Times New Roman" panose="02020603050405020304" pitchFamily="18" charset="0"/>
                <a:cs typeface="Times New Roman" panose="02020603050405020304" pitchFamily="18" charset="0"/>
              </a:rPr>
              <a:t>Decision</a:t>
            </a:r>
            <a:r>
              <a:rPr lang="it-IT" sz="2200" dirty="0">
                <a:latin typeface="+mj-lt"/>
                <a:ea typeface="Times New Roman" panose="02020603050405020304" pitchFamily="18" charset="0"/>
                <a:cs typeface="Times New Roman" panose="02020603050405020304" pitchFamily="18" charset="0"/>
              </a:rPr>
              <a:t> Analysis) quale supporto alla valutazione. Il software è in fase di rilascio, è stato realizzato con fondi del PNRR per cui potrà essere utilizzato gratuitamente dalle Aziende del SSR. Allo stato attuale AOUP è il promotore del software (Prof.ssa Laura Pellegrini) e FTGM sarà uno dei primi sperimentatori.</a:t>
            </a:r>
          </a:p>
          <a:p>
            <a:pPr marL="342900" lvl="0" indent="-342900">
              <a:lnSpc>
                <a:spcPct val="107000"/>
              </a:lnSpc>
              <a:spcAft>
                <a:spcPts val="0"/>
              </a:spcAft>
              <a:buSzPts val="1000"/>
              <a:buFont typeface="Symbol" panose="05050102010706020507" pitchFamily="18" charset="2"/>
              <a:buChar char=""/>
              <a:tabLst>
                <a:tab pos="457200" algn="l"/>
              </a:tabLst>
            </a:pPr>
            <a:r>
              <a:rPr lang="it-IT" sz="2200" dirty="0">
                <a:effectLst/>
                <a:latin typeface="+mj-lt"/>
                <a:ea typeface="Calibri" panose="020F0502020204030204" pitchFamily="34" charset="0"/>
                <a:cs typeface="Times New Roman" panose="02020603050405020304" pitchFamily="18" charset="0"/>
              </a:rPr>
              <a:t>Formare Direttori di macrostruttura/ Area</a:t>
            </a:r>
          </a:p>
        </p:txBody>
      </p:sp>
    </p:spTree>
    <p:extLst>
      <p:ext uri="{BB962C8B-B14F-4D97-AF65-F5344CB8AC3E}">
        <p14:creationId xmlns:p14="http://schemas.microsoft.com/office/powerpoint/2010/main" val="32022703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36D9F3-97A6-4BD9-BDD0-9B6BC67B4293}"/>
              </a:ext>
            </a:extLst>
          </p:cNvPr>
          <p:cNvSpPr>
            <a:spLocks noChangeArrowheads="1"/>
          </p:cNvSpPr>
          <p:nvPr/>
        </p:nvSpPr>
        <p:spPr bwMode="auto">
          <a:xfrm>
            <a:off x="396255" y="0"/>
            <a:ext cx="1202533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it-IT" altLang="it-IT" sz="3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rPr>
              <a:t>Una volta che il Regolamento è approvato e attivo, il software </a:t>
            </a:r>
            <a:r>
              <a:rPr kumimoji="0" lang="it-IT" altLang="it-IT" sz="3200" b="1" i="0" u="none" strike="noStrike" cap="none" normalizeH="0" baseline="0" dirty="0" err="1">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rPr>
              <a:t>UniPi</a:t>
            </a:r>
            <a:r>
              <a:rPr kumimoji="0" lang="it-IT" altLang="it-IT" sz="3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rPr>
              <a:t> viene testato con un approccio scientifico e con tempi accademici realistici</a:t>
            </a:r>
            <a:r>
              <a:rPr kumimoji="0" lang="it-IT" altLang="it-IT" sz="3200" b="0"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p>
          <a:p>
            <a:pPr eaLnBrk="0" fontAlgn="base" hangingPunct="0">
              <a:spcBef>
                <a:spcPct val="0"/>
              </a:spcBef>
              <a:spcAft>
                <a:spcPct val="0"/>
              </a:spcAft>
            </a:pPr>
            <a:r>
              <a:rPr lang="it-IT" dirty="0"/>
              <a:t>Questa fase NON incide sull’approvazione del Regolamento, ma costituisce un progetto pilota per supportare la valutazione multi-criterio (MCDA).</a:t>
            </a:r>
          </a:p>
          <a:p>
            <a:pPr marL="0" marR="0" lvl="0" indent="0" defTabSz="914400" rtl="0" eaLnBrk="0" fontAlgn="base" latinLnBrk="0" hangingPunct="0">
              <a:lnSpc>
                <a:spcPct val="100000"/>
              </a:lnSpc>
              <a:spcBef>
                <a:spcPct val="0"/>
              </a:spcBef>
              <a:spcAft>
                <a:spcPct val="0"/>
              </a:spcAft>
              <a:buClrTx/>
              <a:buSzTx/>
              <a:buFontTx/>
              <a:buNone/>
              <a:tabLst/>
            </a:pPr>
            <a:endParaRPr kumimoji="0" lang="it-IT" altLang="it-IT" sz="3200" b="0"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it-IT" altLang="it-IT" sz="3200" b="0"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6145" name="Picture 1">
            <a:extLst>
              <a:ext uri="{FF2B5EF4-FFF2-40B4-BE49-F238E27FC236}">
                <a16:creationId xmlns:a16="http://schemas.microsoft.com/office/drawing/2014/main" id="{6E2922B7-AFCC-4063-A89E-AAE50F95D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391" y="2070274"/>
            <a:ext cx="8637136" cy="4770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5682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AC1CDA6D-453E-4CC7-8EC0-BF397AD7E8B4}"/>
              </a:ext>
            </a:extLst>
          </p:cNvPr>
          <p:cNvSpPr/>
          <p:nvPr/>
        </p:nvSpPr>
        <p:spPr>
          <a:xfrm>
            <a:off x="390572" y="887795"/>
            <a:ext cx="6083300" cy="5755422"/>
          </a:xfrm>
          <a:prstGeom prst="rect">
            <a:avLst/>
          </a:prstGeom>
        </p:spPr>
        <p:txBody>
          <a:bodyPr wrap="square">
            <a:spAutoFit/>
          </a:bodyPr>
          <a:lstStyle/>
          <a:p>
            <a:pPr marL="357188" indent="-357188">
              <a:buFont typeface="Arial" panose="020B0604020202020204" pitchFamily="34" charset="0"/>
              <a:buChar char="•"/>
            </a:pPr>
            <a:r>
              <a:rPr lang="it-IT" sz="2000" dirty="0">
                <a:latin typeface="Times New Roman" panose="02020603050405020304" pitchFamily="18" charset="0"/>
                <a:ea typeface="Times New Roman" panose="02020603050405020304" pitchFamily="18" charset="0"/>
              </a:rPr>
              <a:t>Setup progetto + formazione iniziale</a:t>
            </a:r>
            <a:r>
              <a:rPr lang="it-IT" sz="2000" b="1" dirty="0">
                <a:latin typeface="Times New Roman" panose="02020603050405020304" pitchFamily="18" charset="0"/>
                <a:ea typeface="Times New Roman" panose="02020603050405020304" pitchFamily="18" charset="0"/>
              </a:rPr>
              <a:t> (mese 1–2)</a:t>
            </a:r>
          </a:p>
          <a:p>
            <a:pPr lvl="0">
              <a:buSzPts val="1000"/>
              <a:tabLst>
                <a:tab pos="457200" algn="l"/>
              </a:tabLst>
            </a:pPr>
            <a:r>
              <a:rPr lang="it-IT" dirty="0">
                <a:latin typeface="Times New Roman" panose="02020603050405020304" pitchFamily="18" charset="0"/>
                <a:ea typeface="Times New Roman" panose="02020603050405020304" pitchFamily="18" charset="0"/>
              </a:rPr>
              <a:t>Presentazione software</a:t>
            </a:r>
          </a:p>
          <a:p>
            <a:pPr lvl="0">
              <a:buSzPts val="1000"/>
              <a:tabLst>
                <a:tab pos="457200" algn="l"/>
              </a:tabLst>
            </a:pPr>
            <a:r>
              <a:rPr lang="it-IT" dirty="0">
                <a:latin typeface="Times New Roman" panose="02020603050405020304" pitchFamily="18" charset="0"/>
                <a:ea typeface="Times New Roman" panose="02020603050405020304" pitchFamily="18" charset="0"/>
              </a:rPr>
              <a:t>Definizione casi studio (2–3 tecnologie reali)</a:t>
            </a:r>
          </a:p>
          <a:p>
            <a:pPr lvl="0">
              <a:buSzPts val="1000"/>
              <a:tabLst>
                <a:tab pos="457200" algn="l"/>
              </a:tabLst>
            </a:pPr>
            <a:r>
              <a:rPr lang="it-IT" dirty="0">
                <a:latin typeface="Times New Roman" panose="02020603050405020304" pitchFamily="18" charset="0"/>
                <a:ea typeface="Times New Roman" panose="02020603050405020304" pitchFamily="18" charset="0"/>
              </a:rPr>
              <a:t>Costruzione matrice criteri MCDA aziendale</a:t>
            </a:r>
          </a:p>
          <a:p>
            <a:pPr lvl="0">
              <a:buSzPts val="1000"/>
              <a:tabLst>
                <a:tab pos="457200" algn="l"/>
              </a:tabLst>
            </a:pPr>
            <a:endParaRPr lang="it-IT" dirty="0">
              <a:latin typeface="Times New Roman" panose="02020603050405020304" pitchFamily="18" charset="0"/>
              <a:ea typeface="Times New Roman" panose="02020603050405020304" pitchFamily="18" charset="0"/>
            </a:endParaRPr>
          </a:p>
          <a:p>
            <a:pPr marL="357188" indent="-357188">
              <a:buFont typeface="Arial" panose="020B0604020202020204" pitchFamily="34" charset="0"/>
              <a:buChar char="•"/>
            </a:pPr>
            <a:r>
              <a:rPr lang="it-IT" sz="2000" dirty="0">
                <a:latin typeface="Times New Roman" panose="02020603050405020304" pitchFamily="18" charset="0"/>
                <a:ea typeface="Times New Roman" panose="02020603050405020304" pitchFamily="18" charset="0"/>
              </a:rPr>
              <a:t>Raccolta dati e input di valutazione</a:t>
            </a:r>
            <a:r>
              <a:rPr lang="it-IT" sz="2000" b="1" dirty="0">
                <a:latin typeface="Times New Roman" panose="02020603050405020304" pitchFamily="18" charset="0"/>
                <a:ea typeface="Times New Roman" panose="02020603050405020304" pitchFamily="18" charset="0"/>
              </a:rPr>
              <a:t> (mese 2–5)</a:t>
            </a:r>
          </a:p>
          <a:p>
            <a:pPr lvl="0">
              <a:buSzPts val="1000"/>
              <a:tabLst>
                <a:tab pos="457200" algn="l"/>
              </a:tabLst>
            </a:pPr>
            <a:r>
              <a:rPr lang="it-IT" dirty="0">
                <a:latin typeface="Times New Roman" panose="02020603050405020304" pitchFamily="18" charset="0"/>
                <a:ea typeface="Times New Roman" panose="02020603050405020304" pitchFamily="18" charset="0"/>
              </a:rPr>
              <a:t>Coinvolgimento gruppo multidisciplinare</a:t>
            </a:r>
          </a:p>
          <a:p>
            <a:pPr lvl="0">
              <a:buSzPts val="1000"/>
              <a:tabLst>
                <a:tab pos="457200" algn="l"/>
              </a:tabLst>
            </a:pPr>
            <a:r>
              <a:rPr lang="it-IT" dirty="0">
                <a:latin typeface="Times New Roman" panose="02020603050405020304" pitchFamily="18" charset="0"/>
                <a:ea typeface="Times New Roman" panose="02020603050405020304" pitchFamily="18" charset="0"/>
              </a:rPr>
              <a:t>Raccolta evidenze cliniche/economiche</a:t>
            </a:r>
          </a:p>
          <a:p>
            <a:pPr lvl="0">
              <a:buSzPts val="1000"/>
              <a:tabLst>
                <a:tab pos="457200" algn="l"/>
              </a:tabLst>
            </a:pPr>
            <a:r>
              <a:rPr lang="it-IT" dirty="0">
                <a:latin typeface="Times New Roman" panose="02020603050405020304" pitchFamily="18" charset="0"/>
                <a:ea typeface="Times New Roman" panose="02020603050405020304" pitchFamily="18" charset="0"/>
              </a:rPr>
              <a:t>Inserimento dati nel software</a:t>
            </a:r>
          </a:p>
          <a:p>
            <a:pPr lvl="0">
              <a:buSzPts val="1000"/>
              <a:tabLst>
                <a:tab pos="457200" algn="l"/>
              </a:tabLst>
            </a:pPr>
            <a:endParaRPr lang="it-IT" dirty="0">
              <a:latin typeface="Times New Roman" panose="02020603050405020304" pitchFamily="18" charset="0"/>
              <a:ea typeface="Times New Roman" panose="02020603050405020304" pitchFamily="18" charset="0"/>
            </a:endParaRPr>
          </a:p>
          <a:p>
            <a:pPr marL="357188" indent="-357188">
              <a:buFont typeface="Arial" panose="020B0604020202020204" pitchFamily="34" charset="0"/>
              <a:buChar char="•"/>
            </a:pPr>
            <a:r>
              <a:rPr lang="it-IT" sz="2000" dirty="0">
                <a:latin typeface="Times New Roman" panose="02020603050405020304" pitchFamily="18" charset="0"/>
                <a:ea typeface="Times New Roman" panose="02020603050405020304" pitchFamily="18" charset="0"/>
              </a:rPr>
              <a:t>Analisi MCDA e interpretazione risultati</a:t>
            </a:r>
            <a:r>
              <a:rPr lang="it-IT" sz="2000" b="1" dirty="0">
                <a:latin typeface="Times New Roman" panose="02020603050405020304" pitchFamily="18" charset="0"/>
                <a:ea typeface="Times New Roman" panose="02020603050405020304" pitchFamily="18" charset="0"/>
              </a:rPr>
              <a:t> (mese 5–8)</a:t>
            </a:r>
          </a:p>
          <a:p>
            <a:pPr lvl="0">
              <a:buSzPts val="1000"/>
              <a:tabLst>
                <a:tab pos="457200" algn="l"/>
              </a:tabLst>
            </a:pPr>
            <a:r>
              <a:rPr lang="it-IT" dirty="0">
                <a:latin typeface="Times New Roman" panose="02020603050405020304" pitchFamily="18" charset="0"/>
                <a:ea typeface="Times New Roman" panose="02020603050405020304" pitchFamily="18" charset="0"/>
              </a:rPr>
              <a:t>Calcolo punteggi</a:t>
            </a:r>
          </a:p>
          <a:p>
            <a:pPr lvl="0">
              <a:buSzPts val="1000"/>
              <a:tabLst>
                <a:tab pos="457200" algn="l"/>
              </a:tabLst>
            </a:pPr>
            <a:r>
              <a:rPr lang="it-IT" dirty="0">
                <a:latin typeface="Times New Roman" panose="02020603050405020304" pitchFamily="18" charset="0"/>
                <a:ea typeface="Times New Roman" panose="02020603050405020304" pitchFamily="18" charset="0"/>
              </a:rPr>
              <a:t>Discussione con Direzione e gruppo di valutazione</a:t>
            </a:r>
          </a:p>
          <a:p>
            <a:pPr lvl="0">
              <a:buSzPts val="1000"/>
              <a:tabLst>
                <a:tab pos="457200" algn="l"/>
              </a:tabLst>
            </a:pPr>
            <a:r>
              <a:rPr lang="it-IT" dirty="0">
                <a:latin typeface="Times New Roman" panose="02020603050405020304" pitchFamily="18" charset="0"/>
                <a:ea typeface="Times New Roman" panose="02020603050405020304" pitchFamily="18" charset="0"/>
              </a:rPr>
              <a:t>Applicazione a scenari reali</a:t>
            </a:r>
          </a:p>
          <a:p>
            <a:pPr lvl="0">
              <a:buSzPts val="1000"/>
              <a:tabLst>
                <a:tab pos="457200" algn="l"/>
              </a:tabLst>
            </a:pPr>
            <a:endParaRPr lang="it-IT" dirty="0">
              <a:latin typeface="Times New Roman" panose="02020603050405020304" pitchFamily="18" charset="0"/>
              <a:ea typeface="Times New Roman" panose="02020603050405020304" pitchFamily="18" charset="0"/>
            </a:endParaRPr>
          </a:p>
          <a:p>
            <a:pPr marL="357188" indent="-357188">
              <a:buFont typeface="Arial" panose="020B0604020202020204" pitchFamily="34" charset="0"/>
              <a:buChar char="•"/>
            </a:pPr>
            <a:r>
              <a:rPr lang="it-IT" sz="2000" dirty="0">
                <a:latin typeface="Times New Roman" panose="02020603050405020304" pitchFamily="18" charset="0"/>
                <a:ea typeface="Times New Roman" panose="02020603050405020304" pitchFamily="18" charset="0"/>
              </a:rPr>
              <a:t>Valutazione finale </a:t>
            </a:r>
            <a:r>
              <a:rPr lang="it-IT" sz="2000" b="1" dirty="0">
                <a:latin typeface="Times New Roman" panose="02020603050405020304" pitchFamily="18" charset="0"/>
                <a:ea typeface="Times New Roman" panose="02020603050405020304" pitchFamily="18" charset="0"/>
              </a:rPr>
              <a:t>(mese 8–12)</a:t>
            </a:r>
          </a:p>
          <a:p>
            <a:pPr lvl="0">
              <a:buSzPts val="1000"/>
              <a:tabLst>
                <a:tab pos="457200" algn="l"/>
              </a:tabLst>
            </a:pPr>
            <a:r>
              <a:rPr lang="it-IT" dirty="0">
                <a:latin typeface="Times New Roman" panose="02020603050405020304" pitchFamily="18" charset="0"/>
                <a:ea typeface="Times New Roman" panose="02020603050405020304" pitchFamily="18" charset="0"/>
              </a:rPr>
              <a:t>Elaborazione risultati</a:t>
            </a:r>
          </a:p>
          <a:p>
            <a:pPr lvl="0">
              <a:buSzPts val="1000"/>
              <a:tabLst>
                <a:tab pos="457200" algn="l"/>
              </a:tabLst>
            </a:pPr>
            <a:r>
              <a:rPr lang="it-IT" dirty="0">
                <a:latin typeface="Times New Roman" panose="02020603050405020304" pitchFamily="18" charset="0"/>
                <a:ea typeface="Times New Roman" panose="02020603050405020304" pitchFamily="18" charset="0"/>
              </a:rPr>
              <a:t>Raccomandazioni per miglioramento</a:t>
            </a:r>
          </a:p>
          <a:p>
            <a:pPr lvl="0">
              <a:buSzPts val="1000"/>
              <a:tabLst>
                <a:tab pos="457200" algn="l"/>
              </a:tabLst>
            </a:pPr>
            <a:r>
              <a:rPr lang="it-IT" dirty="0">
                <a:latin typeface="Times New Roman" panose="02020603050405020304" pitchFamily="18" charset="0"/>
                <a:ea typeface="Times New Roman" panose="02020603050405020304" pitchFamily="18" charset="0"/>
              </a:rPr>
              <a:t>Rapporto conclusivo </a:t>
            </a:r>
            <a:r>
              <a:rPr lang="it-IT" dirty="0" err="1">
                <a:latin typeface="Times New Roman" panose="02020603050405020304" pitchFamily="18" charset="0"/>
                <a:ea typeface="Times New Roman" panose="02020603050405020304" pitchFamily="18" charset="0"/>
              </a:rPr>
              <a:t>UniPi</a:t>
            </a:r>
            <a:endParaRPr lang="it-IT" dirty="0">
              <a:latin typeface="Times New Roman" panose="02020603050405020304" pitchFamily="18" charset="0"/>
              <a:ea typeface="Times New Roman" panose="02020603050405020304" pitchFamily="18" charset="0"/>
            </a:endParaRPr>
          </a:p>
          <a:p>
            <a:pPr lvl="0">
              <a:buSzPts val="1000"/>
              <a:tabLst>
                <a:tab pos="457200" algn="l"/>
              </a:tabLst>
            </a:pPr>
            <a:r>
              <a:rPr lang="it-IT" dirty="0">
                <a:latin typeface="Times New Roman" panose="02020603050405020304" pitchFamily="18" charset="0"/>
                <a:ea typeface="Times New Roman" panose="02020603050405020304" pitchFamily="18" charset="0"/>
              </a:rPr>
              <a:t>Opzione: integrazione MCDA nella procedura aziendale</a:t>
            </a:r>
          </a:p>
        </p:txBody>
      </p:sp>
      <p:pic>
        <p:nvPicPr>
          <p:cNvPr id="7170" name="Picture 2" descr="Fasi progettuali e metodi di progettazione - Twproject Blog">
            <a:extLst>
              <a:ext uri="{FF2B5EF4-FFF2-40B4-BE49-F238E27FC236}">
                <a16:creationId xmlns:a16="http://schemas.microsoft.com/office/drawing/2014/main" id="{4E91EAF0-09A3-4ABE-963A-1E7BA84CDC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8228" y="1223676"/>
            <a:ext cx="6470975" cy="4716413"/>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77E768A9-1546-4A59-971A-CE91FD9BD30F}"/>
              </a:ext>
            </a:extLst>
          </p:cNvPr>
          <p:cNvSpPr txBox="1"/>
          <p:nvPr/>
        </p:nvSpPr>
        <p:spPr>
          <a:xfrm>
            <a:off x="1692399" y="179909"/>
            <a:ext cx="9001000" cy="707886"/>
          </a:xfrm>
          <a:prstGeom prst="rect">
            <a:avLst/>
          </a:prstGeom>
          <a:noFill/>
        </p:spPr>
        <p:txBody>
          <a:bodyPr wrap="square" rtlCol="0">
            <a:spAutoFit/>
          </a:bodyPr>
          <a:lstStyle/>
          <a:p>
            <a:pPr algn="ctr"/>
            <a:r>
              <a:rPr lang="it-IT" sz="4000" b="1" dirty="0">
                <a:solidFill>
                  <a:srgbClr val="0070C0"/>
                </a:solidFill>
              </a:rPr>
              <a:t>Le fasi del piano</a:t>
            </a:r>
          </a:p>
        </p:txBody>
      </p:sp>
    </p:spTree>
    <p:extLst>
      <p:ext uri="{BB962C8B-B14F-4D97-AF65-F5344CB8AC3E}">
        <p14:creationId xmlns:p14="http://schemas.microsoft.com/office/powerpoint/2010/main" val="13463857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36D9F3-97A6-4BD9-BDD0-9B6BC67B4293}"/>
              </a:ext>
            </a:extLst>
          </p:cNvPr>
          <p:cNvSpPr>
            <a:spLocks noChangeArrowheads="1"/>
          </p:cNvSpPr>
          <p:nvPr/>
        </p:nvSpPr>
        <p:spPr bwMode="auto">
          <a:xfrm>
            <a:off x="1332359" y="323925"/>
            <a:ext cx="113772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it-IT" sz="3600" b="1" dirty="0">
                <a:solidFill>
                  <a:srgbClr val="0070C0"/>
                </a:solidFill>
                <a:latin typeface="Calibri" panose="020F0502020204030204" pitchFamily="34" charset="0"/>
                <a:ea typeface="Calibri" panose="020F0502020204030204" pitchFamily="34" charset="0"/>
                <a:cs typeface="Calibri" panose="020F0502020204030204" pitchFamily="34" charset="0"/>
              </a:rPr>
              <a:t>FASE A REGIME – Processo completo di valutazione </a:t>
            </a:r>
            <a:endParaRPr kumimoji="0" lang="it-IT" altLang="it-IT" sz="3600" b="0"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it-IT" altLang="it-IT" sz="3600" b="0"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Immagine 3">
            <a:extLst>
              <a:ext uri="{FF2B5EF4-FFF2-40B4-BE49-F238E27FC236}">
                <a16:creationId xmlns:a16="http://schemas.microsoft.com/office/drawing/2014/main" id="{CF25228B-1222-42F7-9881-F5FFB70A0EB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2319" y="1406660"/>
            <a:ext cx="9289032" cy="4934528"/>
          </a:xfrm>
          <a:prstGeom prst="rect">
            <a:avLst/>
          </a:prstGeom>
          <a:noFill/>
          <a:ln>
            <a:noFill/>
          </a:ln>
        </p:spPr>
      </p:pic>
    </p:spTree>
    <p:extLst>
      <p:ext uri="{BB962C8B-B14F-4D97-AF65-F5344CB8AC3E}">
        <p14:creationId xmlns:p14="http://schemas.microsoft.com/office/powerpoint/2010/main" val="8271808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1A7608D0-6F6B-415A-978E-C85A0FB682F9}"/>
              </a:ext>
            </a:extLst>
          </p:cNvPr>
          <p:cNvSpPr/>
          <p:nvPr/>
        </p:nvSpPr>
        <p:spPr>
          <a:xfrm>
            <a:off x="252239" y="1332037"/>
            <a:ext cx="7272808" cy="4893647"/>
          </a:xfrm>
          <a:prstGeom prst="rect">
            <a:avLst/>
          </a:prstGeom>
        </p:spPr>
        <p:txBody>
          <a:bodyPr wrap="square">
            <a:spAutoFit/>
          </a:bodyPr>
          <a:lstStyle/>
          <a:p>
            <a:r>
              <a:rPr lang="it-IT" sz="2400" dirty="0"/>
              <a:t>La </a:t>
            </a:r>
            <a:r>
              <a:rPr lang="it-IT" sz="2400" b="1" dirty="0"/>
              <a:t>Multi-</a:t>
            </a:r>
            <a:r>
              <a:rPr lang="it-IT" sz="2400" b="1" dirty="0" err="1"/>
              <a:t>Criteria</a:t>
            </a:r>
            <a:r>
              <a:rPr lang="it-IT" sz="2400" b="1" dirty="0"/>
              <a:t> </a:t>
            </a:r>
            <a:r>
              <a:rPr lang="it-IT" sz="2400" b="1" dirty="0" err="1"/>
              <a:t>Decision</a:t>
            </a:r>
            <a:r>
              <a:rPr lang="it-IT" sz="2400" b="1" dirty="0"/>
              <a:t> Analysis (MCDA)</a:t>
            </a:r>
            <a:r>
              <a:rPr lang="it-IT" sz="2400" dirty="0"/>
              <a:t> è un approccio strutturato di supporto alle decisioni che consente di valutare tecnologie sanitarie considerando </a:t>
            </a:r>
            <a:r>
              <a:rPr lang="it-IT" sz="2400" b="1" dirty="0"/>
              <a:t>simultaneamente criteri multipli</a:t>
            </a:r>
            <a:r>
              <a:rPr lang="it-IT" sz="2400" dirty="0"/>
              <a:t>, spesso eterogenei.</a:t>
            </a:r>
          </a:p>
          <a:p>
            <a:endParaRPr lang="it-IT" sz="2400" dirty="0"/>
          </a:p>
          <a:p>
            <a:r>
              <a:rPr lang="it-IT" sz="2400" dirty="0"/>
              <a:t>Nel contesto della </a:t>
            </a:r>
            <a:r>
              <a:rPr lang="it-IT" sz="2400" b="1" dirty="0"/>
              <a:t>Health Technology </a:t>
            </a:r>
            <a:r>
              <a:rPr lang="it-IT" sz="2400" b="1" dirty="0" err="1"/>
              <a:t>Assessment</a:t>
            </a:r>
            <a:r>
              <a:rPr lang="it-IT" sz="2400" b="1" dirty="0"/>
              <a:t> (HTA)</a:t>
            </a:r>
            <a:r>
              <a:rPr lang="it-IT" sz="2400" dirty="0"/>
              <a:t>, la MCDA:</a:t>
            </a:r>
          </a:p>
          <a:p>
            <a:pPr marL="342900" indent="-342900">
              <a:buFont typeface="Arial" panose="020B0604020202020204" pitchFamily="34" charset="0"/>
              <a:buChar char="•"/>
            </a:pPr>
            <a:r>
              <a:rPr lang="it-IT" sz="2400" dirty="0"/>
              <a:t>integra dimensioni </a:t>
            </a:r>
            <a:r>
              <a:rPr lang="it-IT" sz="2400" b="1" dirty="0"/>
              <a:t>cliniche, economiche, organizzative, etiche e sociali…</a:t>
            </a:r>
            <a:endParaRPr lang="it-IT" sz="2400" dirty="0"/>
          </a:p>
          <a:p>
            <a:pPr marL="342900" indent="-342900">
              <a:buFont typeface="Arial" panose="020B0604020202020204" pitchFamily="34" charset="0"/>
              <a:buChar char="•"/>
            </a:pPr>
            <a:r>
              <a:rPr lang="it-IT" sz="2400" dirty="0"/>
              <a:t>aumenta la </a:t>
            </a:r>
            <a:r>
              <a:rPr lang="it-IT" sz="2400" b="1" dirty="0"/>
              <a:t>trasparenza</a:t>
            </a:r>
            <a:r>
              <a:rPr lang="it-IT" sz="2400" dirty="0"/>
              <a:t> e la </a:t>
            </a:r>
            <a:r>
              <a:rPr lang="it-IT" sz="2400" b="1" dirty="0"/>
              <a:t>riproducibilità</a:t>
            </a:r>
            <a:r>
              <a:rPr lang="it-IT" sz="2400" dirty="0"/>
              <a:t> del processo decisionale</a:t>
            </a:r>
          </a:p>
          <a:p>
            <a:pPr marL="342900" indent="-342900">
              <a:buFont typeface="Arial" panose="020B0604020202020204" pitchFamily="34" charset="0"/>
              <a:buChar char="•"/>
            </a:pPr>
            <a:r>
              <a:rPr lang="it-IT" sz="2400" dirty="0"/>
              <a:t>supporta le decisioni allocative in condizioni di </a:t>
            </a:r>
            <a:r>
              <a:rPr lang="it-IT" sz="2400" b="1" dirty="0"/>
              <a:t>vincoli di risorse</a:t>
            </a:r>
            <a:endParaRPr lang="it-IT" sz="2400" dirty="0"/>
          </a:p>
        </p:txBody>
      </p:sp>
      <p:sp>
        <p:nvSpPr>
          <p:cNvPr id="3" name="CasellaDiTesto 2">
            <a:extLst>
              <a:ext uri="{FF2B5EF4-FFF2-40B4-BE49-F238E27FC236}">
                <a16:creationId xmlns:a16="http://schemas.microsoft.com/office/drawing/2014/main" id="{F9FF2223-DCB8-451B-A477-73C6E648085F}"/>
              </a:ext>
            </a:extLst>
          </p:cNvPr>
          <p:cNvSpPr txBox="1"/>
          <p:nvPr/>
        </p:nvSpPr>
        <p:spPr>
          <a:xfrm>
            <a:off x="987524" y="371832"/>
            <a:ext cx="10873208" cy="1200329"/>
          </a:xfrm>
          <a:prstGeom prst="rect">
            <a:avLst/>
          </a:prstGeom>
          <a:noFill/>
        </p:spPr>
        <p:txBody>
          <a:bodyPr wrap="square" rtlCol="0">
            <a:spAutoFit/>
          </a:bodyPr>
          <a:lstStyle/>
          <a:p>
            <a:r>
              <a:rPr lang="it-IT" sz="3600" b="1" dirty="0">
                <a:solidFill>
                  <a:srgbClr val="0070C0"/>
                </a:solidFill>
              </a:rPr>
              <a:t>MCDA nella valutazione delle tecnologie sanitarie (HTA)</a:t>
            </a:r>
          </a:p>
          <a:p>
            <a:endParaRPr lang="it-IT" sz="3600" dirty="0"/>
          </a:p>
        </p:txBody>
      </p:sp>
      <p:pic>
        <p:nvPicPr>
          <p:cNvPr id="8194" name="Picture 2" descr="Análisis de decisión multicriterio: MCDA">
            <a:extLst>
              <a:ext uri="{FF2B5EF4-FFF2-40B4-BE49-F238E27FC236}">
                <a16:creationId xmlns:a16="http://schemas.microsoft.com/office/drawing/2014/main" id="{1C481F0C-F1CA-479B-945B-EFD13D37F6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7054" y="1473151"/>
            <a:ext cx="4271963" cy="4395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7724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a:extLst>
              <a:ext uri="{FF2B5EF4-FFF2-40B4-BE49-F238E27FC236}">
                <a16:creationId xmlns:a16="http://schemas.microsoft.com/office/drawing/2014/main" id="{CC945D98-339B-40B9-AA9D-28DD4707ABB6}"/>
              </a:ext>
            </a:extLst>
          </p:cNvPr>
          <p:cNvSpPr/>
          <p:nvPr/>
        </p:nvSpPr>
        <p:spPr>
          <a:xfrm>
            <a:off x="2209082" y="467941"/>
            <a:ext cx="7751609" cy="707886"/>
          </a:xfrm>
          <a:prstGeom prst="rect">
            <a:avLst/>
          </a:prstGeom>
        </p:spPr>
        <p:txBody>
          <a:bodyPr wrap="none">
            <a:spAutoFit/>
          </a:bodyPr>
          <a:lstStyle/>
          <a:p>
            <a:r>
              <a:rPr lang="it-IT" sz="4000" b="1" kern="1800" dirty="0">
                <a:solidFill>
                  <a:srgbClr val="0070C0"/>
                </a:solidFill>
                <a:latin typeface="Calibri" panose="020F0502020204030204" pitchFamily="34" charset="0"/>
                <a:ea typeface="Calibri" panose="020F0502020204030204" pitchFamily="34" charset="0"/>
                <a:cs typeface="Calibri" panose="020F0502020204030204" pitchFamily="34" charset="0"/>
              </a:rPr>
              <a:t>Struttura metodologica della MCDA</a:t>
            </a:r>
            <a:endParaRPr lang="it-IT" sz="4000"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ttangolo 3">
            <a:extLst>
              <a:ext uri="{FF2B5EF4-FFF2-40B4-BE49-F238E27FC236}">
                <a16:creationId xmlns:a16="http://schemas.microsoft.com/office/drawing/2014/main" id="{17F8BCA8-9406-462C-995B-FDB2ABA32657}"/>
              </a:ext>
            </a:extLst>
          </p:cNvPr>
          <p:cNvSpPr/>
          <p:nvPr/>
        </p:nvSpPr>
        <p:spPr>
          <a:xfrm>
            <a:off x="612279" y="1504231"/>
            <a:ext cx="5112568" cy="3832075"/>
          </a:xfrm>
          <a:prstGeom prst="rect">
            <a:avLst/>
          </a:prstGeom>
        </p:spPr>
        <p:txBody>
          <a:bodyPr wrap="square">
            <a:spAutoFit/>
          </a:bodyPr>
          <a:lstStyle/>
          <a:p>
            <a:pPr>
              <a:lnSpc>
                <a:spcPct val="107000"/>
              </a:lnSpc>
              <a:spcAft>
                <a:spcPts val="800"/>
              </a:spcAft>
            </a:pPr>
            <a:r>
              <a:rPr lang="it-IT" b="1" dirty="0">
                <a:latin typeface="+mj-lt"/>
                <a:ea typeface="Times New Roman" panose="02020603050405020304" pitchFamily="18" charset="0"/>
                <a:cs typeface="Times New Roman" panose="02020603050405020304" pitchFamily="18" charset="0"/>
              </a:rPr>
              <a:t>Identificazione e definizione dei criteri</a:t>
            </a:r>
            <a:endParaRPr lang="it-IT" dirty="0">
              <a:latin typeface="+mj-l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mj-lt"/>
                <a:ea typeface="Times New Roman" panose="02020603050405020304" pitchFamily="18" charset="0"/>
                <a:cs typeface="Times New Roman" panose="02020603050405020304" pitchFamily="18" charset="0"/>
              </a:rPr>
              <a:t>efficacia clinica e benefici di salute</a:t>
            </a:r>
            <a:endParaRPr lang="it-IT" dirty="0">
              <a:latin typeface="+mj-l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mj-lt"/>
                <a:ea typeface="Times New Roman" panose="02020603050405020304" pitchFamily="18" charset="0"/>
                <a:cs typeface="Times New Roman" panose="02020603050405020304" pitchFamily="18" charset="0"/>
              </a:rPr>
              <a:t>profilo di sicurezza</a:t>
            </a:r>
            <a:endParaRPr lang="it-IT" dirty="0">
              <a:latin typeface="+mj-l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mj-lt"/>
                <a:ea typeface="Times New Roman" panose="02020603050405020304" pitchFamily="18" charset="0"/>
                <a:cs typeface="Times New Roman" panose="02020603050405020304" pitchFamily="18" charset="0"/>
              </a:rPr>
              <a:t>impatto economico e budget impact</a:t>
            </a:r>
            <a:endParaRPr lang="it-IT" dirty="0">
              <a:latin typeface="+mj-l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mj-lt"/>
                <a:ea typeface="Times New Roman" panose="02020603050405020304" pitchFamily="18" charset="0"/>
                <a:cs typeface="Times New Roman" panose="02020603050405020304" pitchFamily="18" charset="0"/>
              </a:rPr>
              <a:t>impatto organizzativo</a:t>
            </a:r>
            <a:endParaRPr lang="it-IT" dirty="0">
              <a:latin typeface="+mj-l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mj-lt"/>
                <a:ea typeface="Times New Roman" panose="02020603050405020304" pitchFamily="18" charset="0"/>
                <a:cs typeface="Times New Roman" panose="02020603050405020304" pitchFamily="18" charset="0"/>
              </a:rPr>
              <a:t>equità, aspetti etici e sociali…</a:t>
            </a:r>
          </a:p>
          <a:p>
            <a:pPr>
              <a:lnSpc>
                <a:spcPct val="107000"/>
              </a:lnSpc>
              <a:spcAft>
                <a:spcPts val="800"/>
              </a:spcAft>
            </a:pPr>
            <a:r>
              <a:rPr lang="it-IT" b="1" dirty="0">
                <a:latin typeface="+mj-lt"/>
                <a:ea typeface="Times New Roman" panose="02020603050405020304" pitchFamily="18" charset="0"/>
                <a:cs typeface="Times New Roman" panose="02020603050405020304" pitchFamily="18" charset="0"/>
              </a:rPr>
              <a:t>Ponderazione dei criteri</a:t>
            </a:r>
            <a:endParaRPr lang="it-IT" dirty="0">
              <a:latin typeface="+mj-l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mj-lt"/>
                <a:ea typeface="Times New Roman" panose="02020603050405020304" pitchFamily="18" charset="0"/>
                <a:cs typeface="Times New Roman" panose="02020603050405020304" pitchFamily="18" charset="0"/>
              </a:rPr>
              <a:t>assegnazione di pesi relativi in base alle priorità strategiche della Direzione </a:t>
            </a:r>
            <a:endParaRPr lang="it-IT" dirty="0">
              <a:latin typeface="+mj-lt"/>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endParaRPr lang="it-IT"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CasellaDiTesto 4">
            <a:extLst>
              <a:ext uri="{FF2B5EF4-FFF2-40B4-BE49-F238E27FC236}">
                <a16:creationId xmlns:a16="http://schemas.microsoft.com/office/drawing/2014/main" id="{DF0FF2BC-7816-4822-BCB3-565D81A6AD88}"/>
              </a:ext>
            </a:extLst>
          </p:cNvPr>
          <p:cNvSpPr txBox="1"/>
          <p:nvPr/>
        </p:nvSpPr>
        <p:spPr>
          <a:xfrm>
            <a:off x="6948983" y="1764085"/>
            <a:ext cx="4405116" cy="2660472"/>
          </a:xfrm>
          <a:prstGeom prst="rect">
            <a:avLst/>
          </a:prstGeom>
          <a:noFill/>
        </p:spPr>
        <p:txBody>
          <a:bodyPr wrap="square" rtlCol="0">
            <a:spAutoFit/>
          </a:bodyPr>
          <a:lstStyle/>
          <a:p>
            <a:pPr>
              <a:lnSpc>
                <a:spcPct val="107000"/>
              </a:lnSpc>
              <a:spcAft>
                <a:spcPts val="800"/>
              </a:spcAft>
            </a:pPr>
            <a:r>
              <a:rPr lang="it-IT" b="1" dirty="0">
                <a:latin typeface="Times New Roman" panose="02020603050405020304" pitchFamily="18" charset="0"/>
                <a:ea typeface="Times New Roman" panose="02020603050405020304" pitchFamily="18" charset="0"/>
                <a:cs typeface="Times New Roman" panose="02020603050405020304" pitchFamily="18" charset="0"/>
              </a:rPr>
              <a:t>Valutazione delle alternative</a:t>
            </a:r>
            <a:endParaRPr lang="it-IT"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Times New Roman" panose="02020603050405020304" pitchFamily="18" charset="0"/>
                <a:ea typeface="Times New Roman" panose="02020603050405020304" pitchFamily="18" charset="0"/>
                <a:cs typeface="Times New Roman" panose="02020603050405020304" pitchFamily="18" charset="0"/>
              </a:rPr>
              <a:t>attribuzione di punteggi standardizzati per ciascun criterio</a:t>
            </a:r>
            <a:endParaRPr lang="it-IT"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b="1" dirty="0">
                <a:latin typeface="Times New Roman" panose="02020603050405020304" pitchFamily="18" charset="0"/>
                <a:ea typeface="Times New Roman" panose="02020603050405020304" pitchFamily="18" charset="0"/>
                <a:cs typeface="Times New Roman" panose="02020603050405020304" pitchFamily="18" charset="0"/>
              </a:rPr>
              <a:t>Aggregazione e analisi dei risultati</a:t>
            </a:r>
            <a:endParaRPr lang="it-IT"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Times New Roman" panose="02020603050405020304" pitchFamily="18" charset="0"/>
                <a:ea typeface="Times New Roman" panose="02020603050405020304" pitchFamily="18" charset="0"/>
                <a:cs typeface="Times New Roman" panose="02020603050405020304" pitchFamily="18" charset="0"/>
              </a:rPr>
              <a:t>calcolo del valore complessivo</a:t>
            </a:r>
            <a:endParaRPr lang="it-IT"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it-IT" dirty="0">
                <a:latin typeface="Times New Roman" panose="02020603050405020304" pitchFamily="18" charset="0"/>
                <a:ea typeface="Times New Roman" panose="02020603050405020304" pitchFamily="18" charset="0"/>
                <a:cs typeface="Times New Roman" panose="02020603050405020304" pitchFamily="18" charset="0"/>
              </a:rPr>
              <a:t>confronto tra tecnologie</a:t>
            </a:r>
            <a:endParaRPr lang="it-IT" dirty="0">
              <a:latin typeface="Calibri" panose="020F0502020204030204" pitchFamily="34" charset="0"/>
              <a:ea typeface="Calibri" panose="020F0502020204030204" pitchFamily="34" charset="0"/>
              <a:cs typeface="Times New Roman" panose="02020603050405020304" pitchFamily="18" charset="0"/>
            </a:endParaRPr>
          </a:p>
          <a:p>
            <a:endParaRPr lang="it-IT" dirty="0"/>
          </a:p>
        </p:txBody>
      </p:sp>
      <p:sp>
        <p:nvSpPr>
          <p:cNvPr id="6" name="CasellaDiTesto 5">
            <a:extLst>
              <a:ext uri="{FF2B5EF4-FFF2-40B4-BE49-F238E27FC236}">
                <a16:creationId xmlns:a16="http://schemas.microsoft.com/office/drawing/2014/main" id="{16D7F21B-5E41-4962-9BFA-AEB91A9CA55C}"/>
              </a:ext>
            </a:extLst>
          </p:cNvPr>
          <p:cNvSpPr txBox="1"/>
          <p:nvPr/>
        </p:nvSpPr>
        <p:spPr>
          <a:xfrm>
            <a:off x="1548383" y="5185900"/>
            <a:ext cx="9577064" cy="1477328"/>
          </a:xfrm>
          <a:prstGeom prst="rect">
            <a:avLst/>
          </a:prstGeom>
          <a:noFill/>
        </p:spPr>
        <p:txBody>
          <a:bodyPr wrap="square" rtlCol="0">
            <a:spAutoFit/>
          </a:bodyPr>
          <a:lstStyle/>
          <a:p>
            <a:r>
              <a:rPr lang="it-IT" sz="2400" dirty="0">
                <a:latin typeface="+mj-lt"/>
                <a:ea typeface="Times New Roman" panose="02020603050405020304" pitchFamily="18" charset="0"/>
                <a:cs typeface="Segoe UI Emoji" panose="020B0502040204020203" pitchFamily="34" charset="0"/>
              </a:rPr>
              <a:t>✅</a:t>
            </a:r>
            <a:r>
              <a:rPr lang="it-IT" sz="2400" dirty="0">
                <a:latin typeface="+mj-lt"/>
                <a:ea typeface="Times New Roman" panose="02020603050405020304" pitchFamily="18" charset="0"/>
                <a:cs typeface="Times New Roman" panose="02020603050405020304" pitchFamily="18" charset="0"/>
              </a:rPr>
              <a:t> Output: una graduatoria decisionale </a:t>
            </a:r>
            <a:r>
              <a:rPr lang="it-IT" sz="2400" b="1" dirty="0">
                <a:latin typeface="+mj-lt"/>
                <a:ea typeface="Times New Roman" panose="02020603050405020304" pitchFamily="18" charset="0"/>
                <a:cs typeface="Times New Roman" panose="02020603050405020304" pitchFamily="18" charset="0"/>
              </a:rPr>
              <a:t>coerente, documentata e difendibile</a:t>
            </a:r>
            <a:r>
              <a:rPr lang="it-IT" sz="2400" dirty="0">
                <a:latin typeface="+mj-lt"/>
                <a:ea typeface="Times New Roman" panose="02020603050405020304" pitchFamily="18" charset="0"/>
                <a:cs typeface="Times New Roman" panose="02020603050405020304" pitchFamily="18" charset="0"/>
              </a:rPr>
              <a:t>, utile per supportare decisioni di adozione, </a:t>
            </a:r>
            <a:r>
              <a:rPr lang="it-IT" sz="2400" dirty="0" err="1">
                <a:latin typeface="+mj-lt"/>
                <a:ea typeface="Times New Roman" panose="02020603050405020304" pitchFamily="18" charset="0"/>
                <a:cs typeface="Times New Roman" panose="02020603050405020304" pitchFamily="18" charset="0"/>
              </a:rPr>
              <a:t>prioritarizzazione</a:t>
            </a:r>
            <a:r>
              <a:rPr lang="it-IT" sz="2400" dirty="0">
                <a:latin typeface="+mj-lt"/>
                <a:ea typeface="Times New Roman" panose="02020603050405020304" pitchFamily="18" charset="0"/>
                <a:cs typeface="Times New Roman" panose="02020603050405020304" pitchFamily="18" charset="0"/>
              </a:rPr>
              <a:t> o disinvestimento</a:t>
            </a:r>
            <a:endParaRPr lang="it-IT" sz="2400" dirty="0">
              <a:latin typeface="+mj-lt"/>
              <a:ea typeface="Calibri" panose="020F0502020204030204" pitchFamily="34" charset="0"/>
              <a:cs typeface="Times New Roman" panose="02020603050405020304" pitchFamily="18" charset="0"/>
            </a:endParaRPr>
          </a:p>
          <a:p>
            <a:endParaRPr lang="it-IT" dirty="0"/>
          </a:p>
        </p:txBody>
      </p:sp>
    </p:spTree>
    <p:extLst>
      <p:ext uri="{BB962C8B-B14F-4D97-AF65-F5344CB8AC3E}">
        <p14:creationId xmlns:p14="http://schemas.microsoft.com/office/powerpoint/2010/main" val="37052768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erché organizzare un kick-off meeting - Il blog di Smart Eventi">
            <a:extLst>
              <a:ext uri="{FF2B5EF4-FFF2-40B4-BE49-F238E27FC236}">
                <a16:creationId xmlns:a16="http://schemas.microsoft.com/office/drawing/2014/main" id="{05756536-979A-4CD1-B28A-12179A4BE0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23" y="27695"/>
            <a:ext cx="12147352" cy="6812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4666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4777</TotalTime>
  <Words>1375</Words>
  <Application>Microsoft Office PowerPoint</Application>
  <PresentationFormat>Personalizzato</PresentationFormat>
  <Paragraphs>154</Paragraphs>
  <Slides>24</Slides>
  <Notes>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24</vt:i4>
      </vt:variant>
    </vt:vector>
  </HeadingPairs>
  <TitlesOfParts>
    <vt:vector size="32" baseType="lpstr">
      <vt:lpstr>맑은 고딕</vt:lpstr>
      <vt:lpstr>MS Gothic</vt:lpstr>
      <vt:lpstr>Arial</vt:lpstr>
      <vt:lpstr>Calibri</vt:lpstr>
      <vt:lpstr>Segoe UI Emoji</vt:lpstr>
      <vt:lpstr>Symbol</vt:lpstr>
      <vt:lpstr>Times New Roman</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Giuseppina Terranova</dc:creator>
  <cp:lastModifiedBy>Giuseppina Terranova</cp:lastModifiedBy>
  <cp:revision>291</cp:revision>
  <dcterms:created xsi:type="dcterms:W3CDTF">2023-11-05T10:33:43Z</dcterms:created>
  <dcterms:modified xsi:type="dcterms:W3CDTF">2025-12-26T17:55:42Z</dcterms:modified>
</cp:coreProperties>
</file>